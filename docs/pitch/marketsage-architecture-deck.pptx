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4213D"/>
                </a:solidFill>
                <a:latin typeface="Arial"/>
              </a:defRPr>
            </a:pPr>
            <a:r>
              <a:rPr sz="950" b="0" i="0" u="none" strike="noStrike">
                <a:solidFill>
                  <a:srgbClr val="14213D"/>
                </a:solidFill>
                <a:latin typeface="Arial"/>
              </a:rPr>
              <a:t>FinanceBench recall %, by scorer and hint (150 queries)</a:t>
            </a:r>
          </a:p>
        </c:rich>
      </c:tx>
      <c:layout/>
      <c:overlay val="0"/>
    </c:title>
    <c:autoTitleDeleted val="0"/>
    <c:plotArea>
      <c:layout/>
      <c:barChart>
        <c:barDir val="bar"/>
        <c:grouping val="clustered"/>
        <c:varyColors val="0"/>
        <c:ser>
          <c:idx val="0"/>
          <c:order val="0"/>
          <c:tx>
            <c:strRef>
              <c:f>Sheet1!$B$1</c:f>
              <c:strCache>
                <c:ptCount val="1"/>
                <c:pt idx="0">
                  <c:v>Recall@k</c:v>
                </c:pt>
              </c:strCache>
            </c:strRef>
          </c:tx>
          <c:spPr>
            <a:solidFill>
              <a:srgbClr val="2EC4B6"/>
            </a:solidFill>
            <a:effectLst/>
          </c:spPr>
          <c:invertIfNegative val="0"/>
          <c:dLbls>
            <c:numFmt formatCode="0.0" sourceLinked="0"/>
            <c:txPr>
              <a:bodyPr/>
              <a:lstStyle/>
              <a:p>
                <a:pPr>
                  <a:defRPr b="0" i="0" strike="noStrike" sz="750" u="none">
                    <a:solidFill>
                      <a:srgbClr val="1B2A41"/>
                    </a:solidFill>
                    <a:latin typeface="Arial"/>
                  </a:defRPr>
                </a:pPr>
              </a:p>
            </c:txPr>
            <c:showLegendKey val="0"/>
            <c:showVal val="1"/>
            <c:showCatName val="0"/>
            <c:showSerName val="0"/>
            <c:showPercent val="0"/>
            <c:showBubbleSize val="0"/>
            <c:showLeaderLines val="0"/>
          </c:dLbls>
          <c:cat>
            <c:multiLvlStrRef>
              <c:f>Sheet1!$A$2:$A$10</c:f>
              <c:multiLvlStrCache>
                <c:ptCount val="9"/>
                <c:lvl>
                  <c:pt idx="0">
                    <c:v>BM25, ticker @1</c:v>
                  </c:pt>
                  <c:pt idx="1">
                    <c:v>BM25, ticker @5</c:v>
                  </c:pt>
                  <c:pt idx="2">
                    <c:v>BM25, ticker @10</c:v>
                  </c:pt>
                  <c:pt idx="3">
                    <c:v>BM25, no hint @1</c:v>
                  </c:pt>
                  <c:pt idx="4">
                    <c:v>BM25, no hint @5</c:v>
                  </c:pt>
                  <c:pt idx="5">
                    <c:v>BM25, no hint @10</c:v>
                  </c:pt>
                  <c:pt idx="6">
                    <c:v>Term overlap @1</c:v>
                  </c:pt>
                  <c:pt idx="7">
                    <c:v>Term overlap @5</c:v>
                  </c:pt>
                  <c:pt idx="8">
                    <c:v>Term overlap @10</c:v>
                  </c:pt>
                </c:lvl>
              </c:multiLvlStrCache>
            </c:multiLvlStrRef>
          </c:cat>
          <c:val>
            <c:numRef>
              <c:f>Sheet1!$B$2:$B$10</c:f>
              <c:numCache>
                <c:formatCode>General</c:formatCode>
                <c:ptCount val="9"/>
                <c:pt idx="0">
                  <c:v>47.3</c:v>
                </c:pt>
                <c:pt idx="1">
                  <c:v>94.7</c:v>
                </c:pt>
                <c:pt idx="2">
                  <c:v>100</c:v>
                </c:pt>
                <c:pt idx="3">
                  <c:v>20.7</c:v>
                </c:pt>
                <c:pt idx="4">
                  <c:v>44</c:v>
                </c:pt>
                <c:pt idx="5">
                  <c:v>60.7</c:v>
                </c:pt>
                <c:pt idx="6">
                  <c:v>12</c:v>
                </c:pt>
                <c:pt idx="7">
                  <c:v>26.7</c:v>
                </c:pt>
                <c:pt idx="8">
                  <c:v>38</c:v>
                </c:pt>
              </c:numCache>
            </c:numRef>
          </c:val>
        </c:ser>
        <c:dLbls>
          <c:numFmt formatCode="0.0" sourceLinked="0"/>
          <c:txPr>
            <a:bodyPr/>
            <a:lstStyle/>
            <a:p>
              <a:pPr>
                <a:defRPr b="0" i="0" strike="noStrike" sz="750" u="none">
                  <a:solidFill>
                    <a:srgbClr val="1B2A4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b"/>
        <c:majorGridlines>
          <c:spPr>
            <a:ln w="6350" cap="flat">
              <a:solidFill>
                <a:srgbClr val="C9D3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7A9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23444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MarketSage</a:t>
            </a:r>
            <a:endParaRPr lang="en-US" sz="4400" dirty="0"/>
          </a:p>
        </p:txBody>
      </p:sp>
      <p:sp>
        <p:nvSpPr>
          <p:cNvPr id="3" name="Text 1"/>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2200" dirty="0">
                <a:solidFill>
                  <a:srgbClr val="DCE7F5"/>
                </a:solidFill>
                <a:latin typeface="Calibri" pitchFamily="34" charset="0"/>
                <a:ea typeface="Calibri" pitchFamily="34" charset="-122"/>
                <a:cs typeface="Calibri" pitchFamily="34" charset="-120"/>
              </a:rPr>
              <a:t>AI Systems Architecture Review</a:t>
            </a:r>
            <a:endParaRPr lang="en-US" sz="2200" dirty="0"/>
          </a:p>
        </p:txBody>
      </p:sp>
      <p:sp>
        <p:nvSpPr>
          <p:cNvPr id="4" name="Text 2"/>
          <p:cNvSpPr txBox="1"/>
          <p:nvPr/>
        </p:nvSpPr>
        <p:spPr>
          <a:xfrm>
            <a:off x="548640" y="2514600"/>
            <a:ext cx="7863840" cy="548640"/>
          </a:xfrm>
          <a:prstGeom prst="rect">
            <a:avLst/>
          </a:prstGeom>
          <a:noFill/>
          <a:ln/>
        </p:spPr>
        <p:txBody>
          <a:bodyPr wrap="square" lIns="0" tIns="0" rIns="0" bIns="0" rtlCol="0" anchor="ctr"/>
          <a:lstStyle/>
          <a:p>
            <a:pPr indent="0" marL="0">
              <a:buNone/>
            </a:pPr>
            <a:r>
              <a:rPr lang="en-US" sz="1300" i="1" dirty="0">
                <a:solidFill>
                  <a:srgbClr val="DCE7F5"/>
                </a:solidFill>
                <a:latin typeface="Calibri" pitchFamily="34" charset="0"/>
                <a:ea typeface="Calibri" pitchFamily="34" charset="-122"/>
                <a:cs typeface="Calibri" pitchFamily="34" charset="-120"/>
              </a:rPr>
              <a:t>An MCP-native market intelligence workbench: typed finance tools, saved and auditable runs, sources that never hide what they are</a:t>
            </a:r>
            <a:endParaRPr lang="en-US" sz="1300" dirty="0"/>
          </a:p>
        </p:txBody>
      </p:sp>
      <p:sp>
        <p:nvSpPr>
          <p:cNvPr id="5" name="Text 3"/>
          <p:cNvSpPr txBox="1"/>
          <p:nvPr/>
        </p:nvSpPr>
        <p:spPr>
          <a:xfrm>
            <a:off x="548640" y="4206240"/>
            <a:ext cx="8046720" cy="274320"/>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Release/ship date · 12 September 2026 · Roshan Rana</a:t>
            </a:r>
            <a:endParaRPr lang="en-US" sz="1000" dirty="0"/>
          </a:p>
        </p:txBody>
      </p:sp>
      <p:sp>
        <p:nvSpPr>
          <p:cNvPr id="6" name="Shape 4"/>
          <p:cNvSpPr/>
          <p:nvPr/>
        </p:nvSpPr>
        <p:spPr>
          <a:xfrm>
            <a:off x="7498080" y="1097280"/>
            <a:ext cx="1005840" cy="1005840"/>
          </a:xfrm>
          <a:prstGeom prst="ellipse">
            <a:avLst/>
          </a:prstGeom>
          <a:solidFill>
            <a:srgbClr val="2EC4B6"/>
          </a:solidFill>
          <a:ln w="12700">
            <a:solidFill>
              <a:srgbClr val="2EC4B6"/>
            </a:solidFill>
            <a:prstDash val="solid"/>
          </a:ln>
        </p:spPr>
      </p:sp>
      <p:sp>
        <p:nvSpPr>
          <p:cNvPr id="7" name="Text 5"/>
          <p:cNvSpPr txBox="1"/>
          <p:nvPr/>
        </p:nvSpPr>
        <p:spPr>
          <a:xfrm>
            <a:off x="7498080" y="1097280"/>
            <a:ext cx="1005840" cy="1005840"/>
          </a:xfrm>
          <a:prstGeom prst="rect">
            <a:avLst/>
          </a:prstGeom>
          <a:noFill/>
          <a:ln/>
        </p:spPr>
        <p:txBody>
          <a:bodyPr wrap="square" lIns="0" tIns="0" rIns="0" bIns="0" rtlCol="0" anchor="ctr"/>
          <a:lstStyle/>
          <a:p>
            <a:pPr algn="ctr" indent="0" marL="0">
              <a:buNone/>
            </a:pPr>
            <a:r>
              <a:rPr lang="en-US" sz="4000" b="1" dirty="0">
                <a:solidFill>
                  <a:srgbClr val="14213D"/>
                </a:solidFill>
                <a:latin typeface="Cambria" pitchFamily="34" charset="0"/>
                <a:ea typeface="Cambria" pitchFamily="34" charset="-122"/>
                <a:cs typeface="Cambria" pitchFamily="34" charset="-120"/>
              </a:rPr>
              <a:t>M</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OVERVIEW</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Executive summary</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2</a:t>
            </a:r>
            <a:endParaRPr lang="en-US" sz="800" dirty="0"/>
          </a:p>
        </p:txBody>
      </p:sp>
      <p:sp>
        <p:nvSpPr>
          <p:cNvPr id="5" name="Shape 3"/>
          <p:cNvSpPr/>
          <p:nvPr/>
        </p:nvSpPr>
        <p:spPr>
          <a:xfrm>
            <a:off x="457200" y="1188720"/>
            <a:ext cx="2651760" cy="2971800"/>
          </a:xfrm>
          <a:prstGeom prst="roundRect">
            <a:avLst>
              <a:gd name="adj" fmla="val 2069"/>
            </a:avLst>
          </a:prstGeom>
          <a:solidFill>
            <a:srgbClr val="F3F6FA"/>
          </a:solidFill>
          <a:ln w="9525">
            <a:solidFill>
              <a:srgbClr val="C9D3E0"/>
            </a:solidFill>
            <a:prstDash val="solid"/>
          </a:ln>
        </p:spPr>
      </p:sp>
      <p:sp>
        <p:nvSpPr>
          <p:cNvPr id="6" name="Text 4"/>
          <p:cNvSpPr txBox="1"/>
          <p:nvPr/>
        </p:nvSpPr>
        <p:spPr>
          <a:xfrm>
            <a:off x="594360" y="1280160"/>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What it is</a:t>
            </a:r>
            <a:endParaRPr lang="en-US" sz="1500" dirty="0"/>
          </a:p>
        </p:txBody>
      </p:sp>
      <p:sp>
        <p:nvSpPr>
          <p:cNvPr id="7" name="Text 5"/>
          <p:cNvSpPr txBox="1"/>
          <p:nvPr/>
        </p:nvSpPr>
        <p:spPr>
          <a:xfrm>
            <a:off x="594360" y="1691640"/>
            <a:ext cx="2377440" cy="23774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 Go MCP gateway exposes seven finance tools and a saved-run resource over stdio, backed by a Python FastAPI analytics core: market data, sentiment, evidence search and research briefs.</a:t>
            </a:r>
            <a:endParaRPr lang="en-US" sz="1100" dirty="0"/>
          </a:p>
          <a:p>
            <a:pPr marL="342900" indent="-3429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 Next.js analyst workbench gives the same capabilities to reviewers who never touch an MCP client; DuckDB persists every dataset, run and audit event.</a:t>
            </a:r>
            <a:endParaRPr lang="en-US" sz="1100" dirty="0"/>
          </a:p>
        </p:txBody>
      </p:sp>
      <p:sp>
        <p:nvSpPr>
          <p:cNvPr id="8" name="Shape 6"/>
          <p:cNvSpPr/>
          <p:nvPr/>
        </p:nvSpPr>
        <p:spPr>
          <a:xfrm>
            <a:off x="3246120" y="1188720"/>
            <a:ext cx="2651760" cy="2971800"/>
          </a:xfrm>
          <a:prstGeom prst="roundRect">
            <a:avLst>
              <a:gd name="adj" fmla="val 2069"/>
            </a:avLst>
          </a:prstGeom>
          <a:solidFill>
            <a:srgbClr val="F3F6FA"/>
          </a:solidFill>
          <a:ln w="9525">
            <a:solidFill>
              <a:srgbClr val="C9D3E0"/>
            </a:solidFill>
            <a:prstDash val="solid"/>
          </a:ln>
        </p:spPr>
      </p:sp>
      <p:sp>
        <p:nvSpPr>
          <p:cNvPr id="9" name="Text 7"/>
          <p:cNvSpPr txBox="1"/>
          <p:nvPr/>
        </p:nvSpPr>
        <p:spPr>
          <a:xfrm>
            <a:off x="3383280" y="1280160"/>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What it proves</a:t>
            </a:r>
            <a:endParaRPr lang="en-US" sz="1500" dirty="0"/>
          </a:p>
        </p:txBody>
      </p:sp>
      <p:sp>
        <p:nvSpPr>
          <p:cNvPr id="10" name="Text 8"/>
          <p:cNvSpPr txBox="1"/>
          <p:nvPr/>
        </p:nvSpPr>
        <p:spPr>
          <a:xfrm>
            <a:off x="3383280" y="1691640"/>
            <a:ext cx="2377440" cy="23774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Three data modes and warnings that cannot be suppressed: seeded is deterministic and credential-free, hybrid falls back with a payload warning, live fails clearly without OpenBB.</a:t>
            </a:r>
            <a:endParaRPr lang="en-US" sz="1100" dirty="0"/>
          </a:p>
          <a:p>
            <a:pPr marL="342900" indent="-3429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Every research-brief bullet carries a reference to the snapshot, evidence id or sentiment hash behind it — 12 / 12 grounded on the committed fixtures.</a:t>
            </a:r>
            <a:endParaRPr lang="en-US" sz="1100" dirty="0"/>
          </a:p>
        </p:txBody>
      </p:sp>
      <p:sp>
        <p:nvSpPr>
          <p:cNvPr id="11" name="Shape 9"/>
          <p:cNvSpPr/>
          <p:nvPr/>
        </p:nvSpPr>
        <p:spPr>
          <a:xfrm>
            <a:off x="6035040" y="1188720"/>
            <a:ext cx="2651760" cy="2971800"/>
          </a:xfrm>
          <a:prstGeom prst="roundRect">
            <a:avLst>
              <a:gd name="adj" fmla="val 2069"/>
            </a:avLst>
          </a:prstGeom>
          <a:solidFill>
            <a:srgbClr val="F3F6FA"/>
          </a:solidFill>
          <a:ln w="9525">
            <a:solidFill>
              <a:srgbClr val="C9D3E0"/>
            </a:solidFill>
            <a:prstDash val="solid"/>
          </a:ln>
        </p:spPr>
      </p:sp>
      <p:sp>
        <p:nvSpPr>
          <p:cNvPr id="12" name="Text 10"/>
          <p:cNvSpPr txBox="1"/>
          <p:nvPr/>
        </p:nvSpPr>
        <p:spPr>
          <a:xfrm>
            <a:off x="6172200" y="1280160"/>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Why it is enterprise-ready</a:t>
            </a:r>
            <a:endParaRPr lang="en-US" sz="1500" dirty="0"/>
          </a:p>
        </p:txBody>
      </p:sp>
      <p:sp>
        <p:nvSpPr>
          <p:cNvPr id="13" name="Text 11"/>
          <p:cNvSpPr txBox="1"/>
          <p:nvPr/>
        </p:nvSpPr>
        <p:spPr>
          <a:xfrm>
            <a:off x="6172200" y="1691640"/>
            <a:ext cx="2377440" cy="23774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Built through 13 task packs (T-001…T-013) with frozen requirements, HLD, LLD and an execution plan; one gate (`npm run check`) covers four languages plus an offline evaluation with drift checks.</a:t>
            </a:r>
            <a:endParaRPr lang="en-US" sz="1100" dirty="0"/>
          </a:p>
          <a:p>
            <a:pPr marL="342900" indent="-3429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 separate dependency and vulnerability sweep (`npm run audit:deps`); CI runs the same gate on every push.</a:t>
            </a:r>
            <a:endParaRPr lang="en-US" sz="1100" dirty="0"/>
          </a:p>
        </p:txBody>
      </p:sp>
      <p:sp>
        <p:nvSpPr>
          <p:cNvPr id="14" name="Text 12"/>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1050" i="1" dirty="0">
                <a:solidFill>
                  <a:srgbClr val="1B2A41"/>
                </a:solidFill>
                <a:latin typeface="Calibri" pitchFamily="34" charset="0"/>
                <a:ea typeface="Calibri" pitchFamily="34" charset="-122"/>
                <a:cs typeface="Calibri" pitchFamily="34" charset="-120"/>
              </a:rPr>
              <a:t>Ask of the audience: agree the pilot scope (filing evidence for the other three seeded tickers, embedding retrieval, a recorded FinBERT run, a live OpenBB provider) and the identity model that would sit in front of bearer auth.</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CONTEXT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problem and the users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3</a:t>
            </a:r>
            <a:endParaRPr lang="en-US" sz="800" dirty="0"/>
          </a:p>
        </p:txBody>
      </p:sp>
      <p:sp>
        <p:nvSpPr>
          <p:cNvPr id="5" name="Shape 3"/>
          <p:cNvSpPr/>
          <p:nvPr/>
        </p:nvSpPr>
        <p:spPr>
          <a:xfrm>
            <a:off x="457200" y="1188720"/>
            <a:ext cx="3931920" cy="1600200"/>
          </a:xfrm>
          <a:prstGeom prst="roundRect">
            <a:avLst>
              <a:gd name="adj" fmla="val 3429"/>
            </a:avLst>
          </a:prstGeom>
          <a:solidFill>
            <a:srgbClr val="F3F6FA"/>
          </a:solidFill>
          <a:ln w="9525">
            <a:solidFill>
              <a:srgbClr val="C9D3E0"/>
            </a:solidFill>
            <a:prstDash val="solid"/>
          </a:ln>
        </p:spPr>
      </p:sp>
      <p:sp>
        <p:nvSpPr>
          <p:cNvPr id="6" name="Text 4"/>
          <p:cNvSpPr txBox="1"/>
          <p:nvPr/>
        </p:nvSpPr>
        <p:spPr>
          <a:xfrm>
            <a:off x="548640" y="124358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The analyst's problem</a:t>
            </a:r>
            <a:endParaRPr lang="en-US" sz="1100" dirty="0"/>
          </a:p>
        </p:txBody>
      </p:sp>
      <p:sp>
        <p:nvSpPr>
          <p:cNvPr id="7" name="Text 5"/>
          <p:cNvSpPr txBox="1"/>
          <p:nvPr/>
        </p:nvSpPr>
        <p:spPr>
          <a:xfrm>
            <a:off x="548640" y="1499616"/>
            <a:ext cx="3749040" cy="123444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A snapshot, a price trend, what the filings and the sentiment say, then a brief — a mature workflow, spread across a quote screen, a filings reader and a spreadsheet. A chat box bolted onto the same data gives a model no structure to call, no record of what it looked at, and no way to tell live data from illustrative seed data.</a:t>
            </a:r>
            <a:endParaRPr lang="en-US" sz="1000" dirty="0"/>
          </a:p>
        </p:txBody>
      </p:sp>
      <p:sp>
        <p:nvSpPr>
          <p:cNvPr id="8" name="Shape 6"/>
          <p:cNvSpPr/>
          <p:nvPr/>
        </p:nvSpPr>
        <p:spPr>
          <a:xfrm>
            <a:off x="4754880" y="1188720"/>
            <a:ext cx="3931920" cy="1600200"/>
          </a:xfrm>
          <a:prstGeom prst="roundRect">
            <a:avLst>
              <a:gd name="adj" fmla="val 3429"/>
            </a:avLst>
          </a:prstGeom>
          <a:solidFill>
            <a:srgbClr val="F3F6FA"/>
          </a:solidFill>
          <a:ln w="9525">
            <a:solidFill>
              <a:srgbClr val="C9D3E0"/>
            </a:solidFill>
            <a:prstDash val="solid"/>
          </a:ln>
        </p:spPr>
      </p:sp>
      <p:sp>
        <p:nvSpPr>
          <p:cNvPr id="9" name="Text 7"/>
          <p:cNvSpPr txBox="1"/>
          <p:nvPr/>
        </p:nvSpPr>
        <p:spPr>
          <a:xfrm>
            <a:off x="4846320" y="124358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The constraints</a:t>
            </a:r>
            <a:endParaRPr lang="en-US" sz="1100" dirty="0"/>
          </a:p>
        </p:txBody>
      </p:sp>
      <p:sp>
        <p:nvSpPr>
          <p:cNvPr id="10" name="Text 8"/>
          <p:cNvSpPr txBox="1"/>
          <p:nvPr/>
        </p:nvSpPr>
        <p:spPr>
          <a:xfrm>
            <a:off x="4846320" y="1499616"/>
            <a:ext cx="3749040" cy="123444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MarketSage does not execute trades, move money or provide investment advice. Every tool response must say which data mode produced it, cite the evidence behind each claim, and leave an audit row an operator can replay.</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8229600" cy="914400"/>
        </p:xfrm>
        <a:graphic>
          <a:graphicData uri="http://schemas.openxmlformats.org/drawingml/2006/table">
            <a:tbl>
              <a:tblPr/>
              <a:tblGrid>
                <a:gridCol w="1737360"/>
                <a:gridCol w="3931920"/>
                <a:gridCol w="256032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Actor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Needs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Where it is met</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Analyst (primary)</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Ticker in, brief out: snapshot, evidence, sentiment, caveats, in one workbench or one MCP call</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Next.js workbench; `research_brief` tool</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Compliance / reviewer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An audit row per call: request id, tool, status, duration, mode, warning count</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DuckDB `audit_event`; `docs/security-and-ops.md`</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Platform team</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One local gate, no keys for the default path, optional bearer auth</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`npm run check`; `MARKETSAGE_HTTP_TOKEN`</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AI assistant / MCP host</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Typed tools and a resource it can discover, not a chat window</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7 tools, 4 prompts, 1 resource template</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APPROACH</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Solution at a glance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4</a:t>
            </a:r>
            <a:endParaRPr lang="en-US" sz="800" dirty="0"/>
          </a:p>
        </p:txBody>
      </p:sp>
      <p:sp>
        <p:nvSpPr>
          <p:cNvPr id="5" name="Shape 3"/>
          <p:cNvSpPr/>
          <p:nvPr/>
        </p:nvSpPr>
        <p:spPr>
          <a:xfrm>
            <a:off x="457200" y="1234440"/>
            <a:ext cx="1965960" cy="1965960"/>
          </a:xfrm>
          <a:prstGeom prst="roundRect">
            <a:avLst>
              <a:gd name="adj" fmla="val 2791"/>
            </a:avLst>
          </a:prstGeom>
          <a:solidFill>
            <a:srgbClr val="1C2B4F"/>
          </a:solidFill>
          <a:ln w="9525">
            <a:solidFill>
              <a:srgbClr val="1C2B4F"/>
            </a:solidFill>
            <a:prstDash val="solid"/>
          </a:ln>
        </p:spPr>
      </p:sp>
      <p:sp>
        <p:nvSpPr>
          <p:cNvPr id="6" name="Shape 4"/>
          <p:cNvSpPr/>
          <p:nvPr/>
        </p:nvSpPr>
        <p:spPr>
          <a:xfrm>
            <a:off x="594360" y="1371600"/>
            <a:ext cx="365760" cy="365760"/>
          </a:xfrm>
          <a:prstGeom prst="ellipse">
            <a:avLst/>
          </a:prstGeom>
          <a:solidFill>
            <a:srgbClr val="2EC4B6"/>
          </a:solidFill>
          <a:ln w="12700">
            <a:solidFill>
              <a:srgbClr val="2EC4B6"/>
            </a:solidFill>
            <a:prstDash val="solid"/>
          </a:ln>
        </p:spPr>
      </p:sp>
      <p:sp>
        <p:nvSpPr>
          <p:cNvPr id="7" name="Text 5"/>
          <p:cNvSpPr txBox="1"/>
          <p:nvPr/>
        </p:nvSpPr>
        <p:spPr>
          <a:xfrm>
            <a:off x="59436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51560" y="1389888"/>
            <a:ext cx="128016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Ticker in</a:t>
            </a:r>
            <a:endParaRPr lang="en-US" sz="1250" dirty="0"/>
          </a:p>
        </p:txBody>
      </p:sp>
      <p:sp>
        <p:nvSpPr>
          <p:cNvPr id="9" name="Text 7"/>
          <p:cNvSpPr txBox="1"/>
          <p:nvPr/>
        </p:nvSpPr>
        <p:spPr>
          <a:xfrm>
            <a:off x="59436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health_check and dataset_status confirm DuckDB, the market adapter and the Hugging Face manifest are ready, in seeded mode by default.</a:t>
            </a:r>
            <a:endParaRPr lang="en-US" sz="850" dirty="0"/>
          </a:p>
        </p:txBody>
      </p:sp>
      <p:sp>
        <p:nvSpPr>
          <p:cNvPr id="10" name="Shape 8"/>
          <p:cNvSpPr/>
          <p:nvPr/>
        </p:nvSpPr>
        <p:spPr>
          <a:xfrm>
            <a:off x="2423160" y="2194560"/>
            <a:ext cx="137160" cy="9144"/>
          </a:xfrm>
          <a:prstGeom prst="line">
            <a:avLst/>
          </a:prstGeom>
          <a:noFill/>
          <a:ln w="25400">
            <a:solidFill>
              <a:srgbClr val="2EC4B6"/>
            </a:solidFill>
            <a:prstDash val="solid"/>
            <a:tailEnd type="triangle"/>
          </a:ln>
        </p:spPr>
      </p:sp>
      <p:sp>
        <p:nvSpPr>
          <p:cNvPr id="11" name="Shape 9"/>
          <p:cNvSpPr/>
          <p:nvPr/>
        </p:nvSpPr>
        <p:spPr>
          <a:xfrm>
            <a:off x="2560320" y="1234440"/>
            <a:ext cx="1965960" cy="1965960"/>
          </a:xfrm>
          <a:prstGeom prst="roundRect">
            <a:avLst>
              <a:gd name="adj" fmla="val 2791"/>
            </a:avLst>
          </a:prstGeom>
          <a:solidFill>
            <a:srgbClr val="1C2B4F"/>
          </a:solidFill>
          <a:ln w="9525">
            <a:solidFill>
              <a:srgbClr val="1C2B4F"/>
            </a:solidFill>
            <a:prstDash val="solid"/>
          </a:ln>
        </p:spPr>
      </p:sp>
      <p:sp>
        <p:nvSpPr>
          <p:cNvPr id="12" name="Shape 10"/>
          <p:cNvSpPr/>
          <p:nvPr/>
        </p:nvSpPr>
        <p:spPr>
          <a:xfrm>
            <a:off x="2697480" y="1371600"/>
            <a:ext cx="365760" cy="365760"/>
          </a:xfrm>
          <a:prstGeom prst="ellipse">
            <a:avLst/>
          </a:prstGeom>
          <a:solidFill>
            <a:srgbClr val="2EC4B6"/>
          </a:solidFill>
          <a:ln w="12700">
            <a:solidFill>
              <a:srgbClr val="2EC4B6"/>
            </a:solidFill>
            <a:prstDash val="solid"/>
          </a:ln>
        </p:spPr>
      </p:sp>
      <p:sp>
        <p:nvSpPr>
          <p:cNvPr id="13" name="Text 11"/>
          <p:cNvSpPr txBox="1"/>
          <p:nvPr/>
        </p:nvSpPr>
        <p:spPr>
          <a:xfrm>
            <a:off x="269748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154680" y="1389888"/>
            <a:ext cx="128016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Market + evidence</a:t>
            </a:r>
            <a:endParaRPr lang="en-US" sz="1250" dirty="0"/>
          </a:p>
        </p:txBody>
      </p:sp>
      <p:sp>
        <p:nvSpPr>
          <p:cNvPr id="15" name="Text 13"/>
          <p:cNvSpPr txBox="1"/>
          <p:nvPr/>
        </p:nvSpPr>
        <p:spPr>
          <a:xfrm>
            <a:off x="269748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market_snapshot / price_history (seeded, hybrid or live) and evidence_search: BM25 over the committed FinanceBench filing corpus, ticker-scoped.</a:t>
            </a:r>
            <a:endParaRPr lang="en-US" sz="850" dirty="0"/>
          </a:p>
        </p:txBody>
      </p:sp>
      <p:sp>
        <p:nvSpPr>
          <p:cNvPr id="16" name="Shape 14"/>
          <p:cNvSpPr/>
          <p:nvPr/>
        </p:nvSpPr>
        <p:spPr>
          <a:xfrm>
            <a:off x="4526280" y="2194560"/>
            <a:ext cx="137160" cy="9144"/>
          </a:xfrm>
          <a:prstGeom prst="line">
            <a:avLst/>
          </a:prstGeom>
          <a:noFill/>
          <a:ln w="25400">
            <a:solidFill>
              <a:srgbClr val="2EC4B6"/>
            </a:solidFill>
            <a:prstDash val="solid"/>
            <a:tailEnd type="triangle"/>
          </a:ln>
        </p:spPr>
      </p:sp>
      <p:sp>
        <p:nvSpPr>
          <p:cNvPr id="17" name="Shape 15"/>
          <p:cNvSpPr/>
          <p:nvPr/>
        </p:nvSpPr>
        <p:spPr>
          <a:xfrm>
            <a:off x="4663440" y="1234440"/>
            <a:ext cx="1965960" cy="1965960"/>
          </a:xfrm>
          <a:prstGeom prst="roundRect">
            <a:avLst>
              <a:gd name="adj" fmla="val 2791"/>
            </a:avLst>
          </a:prstGeom>
          <a:solidFill>
            <a:srgbClr val="1C2B4F"/>
          </a:solidFill>
          <a:ln w="9525">
            <a:solidFill>
              <a:srgbClr val="1C2B4F"/>
            </a:solidFill>
            <a:prstDash val="solid"/>
          </a:ln>
        </p:spPr>
      </p:sp>
      <p:sp>
        <p:nvSpPr>
          <p:cNvPr id="18" name="Shape 16"/>
          <p:cNvSpPr/>
          <p:nvPr/>
        </p:nvSpPr>
        <p:spPr>
          <a:xfrm>
            <a:off x="4800600" y="1371600"/>
            <a:ext cx="365760" cy="365760"/>
          </a:xfrm>
          <a:prstGeom prst="ellipse">
            <a:avLst/>
          </a:prstGeom>
          <a:solidFill>
            <a:srgbClr val="2EC4B6"/>
          </a:solidFill>
          <a:ln w="12700">
            <a:solidFill>
              <a:srgbClr val="2EC4B6"/>
            </a:solidFill>
            <a:prstDash val="solid"/>
          </a:ln>
        </p:spPr>
      </p:sp>
      <p:sp>
        <p:nvSpPr>
          <p:cNvPr id="19" name="Text 17"/>
          <p:cNvSpPr txBox="1"/>
          <p:nvPr/>
        </p:nvSpPr>
        <p:spPr>
          <a:xfrm>
            <a:off x="480060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5257800" y="1389888"/>
            <a:ext cx="128016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Sentiment</a:t>
            </a:r>
            <a:endParaRPr lang="en-US" sz="1250" dirty="0"/>
          </a:p>
        </p:txBody>
      </p:sp>
      <p:sp>
        <p:nvSpPr>
          <p:cNvPr id="21" name="Text 19"/>
          <p:cNvSpPr txBox="1"/>
          <p:nvPr/>
        </p:nvSpPr>
        <p:spPr>
          <a:xfrm>
            <a:off x="480060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sentiment_score_text: a deterministic lexicon fallback by default, FinBERT opt-in behind an explicit environment flag.</a:t>
            </a:r>
            <a:endParaRPr lang="en-US" sz="850" dirty="0"/>
          </a:p>
        </p:txBody>
      </p:sp>
      <p:sp>
        <p:nvSpPr>
          <p:cNvPr id="22" name="Shape 20"/>
          <p:cNvSpPr/>
          <p:nvPr/>
        </p:nvSpPr>
        <p:spPr>
          <a:xfrm>
            <a:off x="6629400" y="2194560"/>
            <a:ext cx="137160" cy="9144"/>
          </a:xfrm>
          <a:prstGeom prst="line">
            <a:avLst/>
          </a:prstGeom>
          <a:noFill/>
          <a:ln w="25400">
            <a:solidFill>
              <a:srgbClr val="2EC4B6"/>
            </a:solidFill>
            <a:prstDash val="solid"/>
            <a:tailEnd type="triangle"/>
          </a:ln>
        </p:spPr>
      </p:sp>
      <p:sp>
        <p:nvSpPr>
          <p:cNvPr id="23" name="Shape 21"/>
          <p:cNvSpPr/>
          <p:nvPr/>
        </p:nvSpPr>
        <p:spPr>
          <a:xfrm>
            <a:off x="6766560" y="1234440"/>
            <a:ext cx="1965960" cy="1965960"/>
          </a:xfrm>
          <a:prstGeom prst="roundRect">
            <a:avLst>
              <a:gd name="adj" fmla="val 2791"/>
            </a:avLst>
          </a:prstGeom>
          <a:solidFill>
            <a:srgbClr val="1C2B4F"/>
          </a:solidFill>
          <a:ln w="9525">
            <a:solidFill>
              <a:srgbClr val="1C2B4F"/>
            </a:solidFill>
            <a:prstDash val="solid"/>
          </a:ln>
        </p:spPr>
      </p:sp>
      <p:sp>
        <p:nvSpPr>
          <p:cNvPr id="24" name="Shape 22"/>
          <p:cNvSpPr/>
          <p:nvPr/>
        </p:nvSpPr>
        <p:spPr>
          <a:xfrm>
            <a:off x="6903720" y="1371600"/>
            <a:ext cx="365760" cy="365760"/>
          </a:xfrm>
          <a:prstGeom prst="ellipse">
            <a:avLst/>
          </a:prstGeom>
          <a:solidFill>
            <a:srgbClr val="2EC4B6"/>
          </a:solidFill>
          <a:ln w="12700">
            <a:solidFill>
              <a:srgbClr val="2EC4B6"/>
            </a:solidFill>
            <a:prstDash val="solid"/>
          </a:ln>
        </p:spPr>
      </p:sp>
      <p:sp>
        <p:nvSpPr>
          <p:cNvPr id="25" name="Text 23"/>
          <p:cNvSpPr txBox="1"/>
          <p:nvPr/>
        </p:nvSpPr>
        <p:spPr>
          <a:xfrm>
            <a:off x="690372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7360920" y="1389888"/>
            <a:ext cx="128016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Research brief</a:t>
            </a:r>
            <a:endParaRPr lang="en-US" sz="1250" dirty="0"/>
          </a:p>
        </p:txBody>
      </p:sp>
      <p:sp>
        <p:nvSpPr>
          <p:cNvPr id="27" name="Text 25"/>
          <p:cNvSpPr txBox="1"/>
          <p:nvPr/>
        </p:nvSpPr>
        <p:spPr>
          <a:xfrm>
            <a:off x="690372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research_brief assembles sections whose every bullet carries a reference; the run is saved to DuckDB and readable back as `marketsage://runs/{run_id}`.</a:t>
            </a:r>
            <a:endParaRPr lang="en-US" sz="850" dirty="0"/>
          </a:p>
        </p:txBody>
      </p:sp>
      <p:sp>
        <p:nvSpPr>
          <p:cNvPr id="28" name="Shape 26"/>
          <p:cNvSpPr/>
          <p:nvPr/>
        </p:nvSpPr>
        <p:spPr>
          <a:xfrm>
            <a:off x="457200" y="3429000"/>
            <a:ext cx="4023360" cy="1188720"/>
          </a:xfrm>
          <a:prstGeom prst="roundRect">
            <a:avLst>
              <a:gd name="adj" fmla="val 4615"/>
            </a:avLst>
          </a:prstGeom>
          <a:solidFill>
            <a:srgbClr val="F3F6FA"/>
          </a:solidFill>
          <a:ln w="9525">
            <a:solidFill>
              <a:srgbClr val="C9D3E0"/>
            </a:solidFill>
            <a:prstDash val="solid"/>
          </a:ln>
        </p:spPr>
      </p:sp>
      <p:sp>
        <p:nvSpPr>
          <p:cNvPr id="29" name="Text 27"/>
          <p:cNvSpPr txBox="1"/>
          <p:nvPr/>
        </p:nvSpPr>
        <p:spPr>
          <a:xfrm>
            <a:off x="548640" y="348386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Surfaces</a:t>
            </a:r>
            <a:endParaRPr lang="en-US" sz="1100" dirty="0"/>
          </a:p>
        </p:txBody>
      </p:sp>
      <p:sp>
        <p:nvSpPr>
          <p:cNvPr id="30" name="Text 28"/>
          <p:cNvSpPr txBox="1"/>
          <p:nvPr/>
        </p:nvSpPr>
        <p:spPr>
          <a:xfrm>
            <a:off x="548640" y="3739896"/>
            <a:ext cx="3840480" cy="82296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A Go MCP gateway over stdio, and a Next.js workbench proxying server-side, both call the same FastAPI analytics core; neither one computes anything itself.</a:t>
            </a:r>
            <a:endParaRPr lang="en-US" sz="1000" dirty="0"/>
          </a:p>
        </p:txBody>
      </p:sp>
      <p:sp>
        <p:nvSpPr>
          <p:cNvPr id="31" name="Shape 29"/>
          <p:cNvSpPr/>
          <p:nvPr/>
        </p:nvSpPr>
        <p:spPr>
          <a:xfrm>
            <a:off x="4663440" y="3429000"/>
            <a:ext cx="4023360" cy="1188720"/>
          </a:xfrm>
          <a:prstGeom prst="roundRect">
            <a:avLst>
              <a:gd name="adj" fmla="val 4615"/>
            </a:avLst>
          </a:prstGeom>
          <a:solidFill>
            <a:srgbClr val="F3F6FA"/>
          </a:solidFill>
          <a:ln w="9525">
            <a:solidFill>
              <a:srgbClr val="C9D3E0"/>
            </a:solidFill>
            <a:prstDash val="solid"/>
          </a:ln>
        </p:spPr>
      </p:sp>
      <p:sp>
        <p:nvSpPr>
          <p:cNvPr id="32" name="Text 30"/>
          <p:cNvSpPr txBox="1"/>
          <p:nvPr/>
        </p:nvSpPr>
        <p:spPr>
          <a:xfrm>
            <a:off x="4754880" y="348386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Two data modes, one schema</a:t>
            </a:r>
            <a:endParaRPr lang="en-US" sz="1100" dirty="0"/>
          </a:p>
        </p:txBody>
      </p:sp>
      <p:sp>
        <p:nvSpPr>
          <p:cNvPr id="33" name="Text 31"/>
          <p:cNvSpPr txBox="1"/>
          <p:nvPr/>
        </p:nvSpPr>
        <p:spPr>
          <a:xfrm>
            <a:off x="4754880" y="3739896"/>
            <a:ext cx="3840480" cy="82296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`seeded` is deterministic and credential-free (the default). `hybrid` tries OpenBB and falls back with a warning in the payload. `live` fails clearly when the optional dependency is missing.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C4 LEVEL 1</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System context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5</a:t>
            </a:r>
            <a:endParaRPr lang="en-US" sz="800" dirty="0"/>
          </a:p>
        </p:txBody>
      </p:sp>
      <p:sp>
        <p:nvSpPr>
          <p:cNvPr id="5" name="Shape 3"/>
          <p:cNvSpPr/>
          <p:nvPr/>
        </p:nvSpPr>
        <p:spPr>
          <a:xfrm>
            <a:off x="457200" y="1188720"/>
            <a:ext cx="1554480" cy="713232"/>
          </a:xfrm>
          <a:prstGeom prst="roundRect">
            <a:avLst>
              <a:gd name="adj" fmla="val 7692"/>
            </a:avLst>
          </a:prstGeom>
          <a:solidFill>
            <a:srgbClr val="F3F6FA"/>
          </a:solidFill>
          <a:ln w="9525">
            <a:solidFill>
              <a:srgbClr val="C9D3E0"/>
            </a:solidFill>
            <a:prstDash val="solid"/>
          </a:ln>
        </p:spPr>
      </p:sp>
      <p:sp>
        <p:nvSpPr>
          <p:cNvPr id="6" name="Text 4"/>
          <p:cNvSpPr txBox="1"/>
          <p:nvPr/>
        </p:nvSpPr>
        <p:spPr>
          <a:xfrm>
            <a:off x="548640" y="1243584"/>
            <a:ext cx="13716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Analyst</a:t>
            </a:r>
            <a:endParaRPr lang="en-US" sz="1100" dirty="0"/>
          </a:p>
        </p:txBody>
      </p:sp>
      <p:sp>
        <p:nvSpPr>
          <p:cNvPr id="7" name="Text 5"/>
          <p:cNvSpPr txBox="1"/>
          <p:nvPr/>
        </p:nvSpPr>
        <p:spPr>
          <a:xfrm>
            <a:off x="548640" y="1499616"/>
            <a:ext cx="1371600" cy="347472"/>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browser</a:t>
            </a:r>
            <a:endParaRPr lang="en-US" sz="850" dirty="0"/>
          </a:p>
        </p:txBody>
      </p:sp>
      <p:sp>
        <p:nvSpPr>
          <p:cNvPr id="8" name="Shape 6"/>
          <p:cNvSpPr/>
          <p:nvPr/>
        </p:nvSpPr>
        <p:spPr>
          <a:xfrm>
            <a:off x="2011680" y="1545336"/>
            <a:ext cx="502920" cy="1060704"/>
          </a:xfrm>
          <a:prstGeom prst="line">
            <a:avLst/>
          </a:prstGeom>
          <a:noFill/>
          <a:ln w="12700">
            <a:solidFill>
              <a:srgbClr val="6B7A90"/>
            </a:solidFill>
            <a:prstDash val="solid"/>
            <a:tailEnd type="triangle"/>
          </a:ln>
        </p:spPr>
      </p:sp>
      <p:sp>
        <p:nvSpPr>
          <p:cNvPr id="9" name="Shape 7"/>
          <p:cNvSpPr/>
          <p:nvPr/>
        </p:nvSpPr>
        <p:spPr>
          <a:xfrm>
            <a:off x="457200" y="2057400"/>
            <a:ext cx="1554480" cy="713232"/>
          </a:xfrm>
          <a:prstGeom prst="roundRect">
            <a:avLst>
              <a:gd name="adj" fmla="val 7692"/>
            </a:avLst>
          </a:prstGeom>
          <a:solidFill>
            <a:srgbClr val="F3F6FA"/>
          </a:solidFill>
          <a:ln w="9525">
            <a:solidFill>
              <a:srgbClr val="C9D3E0"/>
            </a:solidFill>
            <a:prstDash val="solid"/>
          </a:ln>
        </p:spPr>
      </p:sp>
      <p:sp>
        <p:nvSpPr>
          <p:cNvPr id="10" name="Text 8"/>
          <p:cNvSpPr txBox="1"/>
          <p:nvPr/>
        </p:nvSpPr>
        <p:spPr>
          <a:xfrm>
            <a:off x="548640" y="2112264"/>
            <a:ext cx="13716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AI assistant</a:t>
            </a:r>
            <a:endParaRPr lang="en-US" sz="1100" dirty="0"/>
          </a:p>
        </p:txBody>
      </p:sp>
      <p:sp>
        <p:nvSpPr>
          <p:cNvPr id="11" name="Text 9"/>
          <p:cNvSpPr txBox="1"/>
          <p:nvPr/>
        </p:nvSpPr>
        <p:spPr>
          <a:xfrm>
            <a:off x="548640" y="2368296"/>
            <a:ext cx="1371600" cy="347472"/>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MCP host, stdio</a:t>
            </a:r>
            <a:endParaRPr lang="en-US" sz="850" dirty="0"/>
          </a:p>
        </p:txBody>
      </p:sp>
      <p:sp>
        <p:nvSpPr>
          <p:cNvPr id="12" name="Shape 10"/>
          <p:cNvSpPr/>
          <p:nvPr/>
        </p:nvSpPr>
        <p:spPr>
          <a:xfrm>
            <a:off x="2011680" y="2414016"/>
            <a:ext cx="502920" cy="192024"/>
          </a:xfrm>
          <a:prstGeom prst="line">
            <a:avLst/>
          </a:prstGeom>
          <a:noFill/>
          <a:ln w="12700">
            <a:solidFill>
              <a:srgbClr val="6B7A90"/>
            </a:solidFill>
            <a:prstDash val="solid"/>
            <a:tailEnd type="triangle"/>
          </a:ln>
        </p:spPr>
      </p:sp>
      <p:sp>
        <p:nvSpPr>
          <p:cNvPr id="13" name="Shape 11"/>
          <p:cNvSpPr/>
          <p:nvPr/>
        </p:nvSpPr>
        <p:spPr>
          <a:xfrm>
            <a:off x="457200" y="2926080"/>
            <a:ext cx="1554480" cy="713232"/>
          </a:xfrm>
          <a:prstGeom prst="roundRect">
            <a:avLst>
              <a:gd name="adj" fmla="val 7692"/>
            </a:avLst>
          </a:prstGeom>
          <a:solidFill>
            <a:srgbClr val="F3F6FA"/>
          </a:solidFill>
          <a:ln w="9525">
            <a:solidFill>
              <a:srgbClr val="C9D3E0"/>
            </a:solidFill>
            <a:prstDash val="solid"/>
          </a:ln>
        </p:spPr>
      </p:sp>
      <p:sp>
        <p:nvSpPr>
          <p:cNvPr id="14" name="Text 12"/>
          <p:cNvSpPr txBox="1"/>
          <p:nvPr/>
        </p:nvSpPr>
        <p:spPr>
          <a:xfrm>
            <a:off x="548640" y="2980944"/>
            <a:ext cx="13716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Automation</a:t>
            </a:r>
            <a:endParaRPr lang="en-US" sz="1100" dirty="0"/>
          </a:p>
        </p:txBody>
      </p:sp>
      <p:sp>
        <p:nvSpPr>
          <p:cNvPr id="15" name="Text 13"/>
          <p:cNvSpPr txBox="1"/>
          <p:nvPr/>
        </p:nvSpPr>
        <p:spPr>
          <a:xfrm>
            <a:off x="548640" y="3236976"/>
            <a:ext cx="1371600" cy="347472"/>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MCP CLI client</a:t>
            </a:r>
            <a:endParaRPr lang="en-US" sz="850" dirty="0"/>
          </a:p>
        </p:txBody>
      </p:sp>
      <p:sp>
        <p:nvSpPr>
          <p:cNvPr id="16" name="Shape 14"/>
          <p:cNvSpPr/>
          <p:nvPr/>
        </p:nvSpPr>
        <p:spPr>
          <a:xfrm flipV="1">
            <a:off x="2011680" y="2606040"/>
            <a:ext cx="502920" cy="676656"/>
          </a:xfrm>
          <a:prstGeom prst="line">
            <a:avLst/>
          </a:prstGeom>
          <a:noFill/>
          <a:ln w="12700">
            <a:solidFill>
              <a:srgbClr val="6B7A90"/>
            </a:solidFill>
            <a:prstDash val="solid"/>
            <a:tailEnd type="triangle"/>
          </a:ln>
        </p:spPr>
      </p:sp>
      <p:sp>
        <p:nvSpPr>
          <p:cNvPr id="17" name="Shape 15"/>
          <p:cNvSpPr/>
          <p:nvPr/>
        </p:nvSpPr>
        <p:spPr>
          <a:xfrm>
            <a:off x="2560320" y="1188720"/>
            <a:ext cx="3108960" cy="3108960"/>
          </a:xfrm>
          <a:prstGeom prst="roundRect">
            <a:avLst>
              <a:gd name="adj" fmla="val 1765"/>
            </a:avLst>
          </a:prstGeom>
          <a:solidFill>
            <a:srgbClr val="EEF6F4"/>
          </a:solidFill>
          <a:ln w="9525">
            <a:solidFill>
              <a:srgbClr val="2EC4B6"/>
            </a:solidFill>
            <a:prstDash val="solid"/>
          </a:ln>
        </p:spPr>
      </p:sp>
      <p:sp>
        <p:nvSpPr>
          <p:cNvPr id="18" name="Text 16"/>
          <p:cNvSpPr txBox="1"/>
          <p:nvPr/>
        </p:nvSpPr>
        <p:spPr>
          <a:xfrm>
            <a:off x="2697480" y="1261872"/>
            <a:ext cx="2743200" cy="27432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MarketSage</a:t>
            </a:r>
            <a:endParaRPr lang="en-US" sz="1400" dirty="0"/>
          </a:p>
        </p:txBody>
      </p:sp>
      <p:sp>
        <p:nvSpPr>
          <p:cNvPr id="19" name="Shape 17"/>
          <p:cNvSpPr/>
          <p:nvPr/>
        </p:nvSpPr>
        <p:spPr>
          <a:xfrm>
            <a:off x="2697480" y="1600200"/>
            <a:ext cx="2834640" cy="685800"/>
          </a:xfrm>
          <a:prstGeom prst="roundRect">
            <a:avLst>
              <a:gd name="adj" fmla="val 8000"/>
            </a:avLst>
          </a:prstGeom>
          <a:solidFill>
            <a:srgbClr val="F3F6FA"/>
          </a:solidFill>
          <a:ln w="9525">
            <a:solidFill>
              <a:srgbClr val="C9D3E0"/>
            </a:solidFill>
            <a:prstDash val="solid"/>
          </a:ln>
        </p:spPr>
      </p:sp>
      <p:sp>
        <p:nvSpPr>
          <p:cNvPr id="20" name="Text 18"/>
          <p:cNvSpPr txBox="1"/>
          <p:nvPr/>
        </p:nvSpPr>
        <p:spPr>
          <a:xfrm>
            <a:off x="2788920" y="1655064"/>
            <a:ext cx="2651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Surfaces</a:t>
            </a:r>
            <a:endParaRPr lang="en-US" sz="1100" dirty="0"/>
          </a:p>
        </p:txBody>
      </p:sp>
      <p:sp>
        <p:nvSpPr>
          <p:cNvPr id="21" name="Text 19"/>
          <p:cNvSpPr txBox="1"/>
          <p:nvPr/>
        </p:nvSpPr>
        <p:spPr>
          <a:xfrm>
            <a:off x="2788920" y="1911096"/>
            <a:ext cx="2651760" cy="32004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Go MCP gateway (stdio) · Next.js workbench (server-side proxy)</a:t>
            </a:r>
            <a:endParaRPr lang="en-US" sz="850" dirty="0"/>
          </a:p>
        </p:txBody>
      </p:sp>
      <p:sp>
        <p:nvSpPr>
          <p:cNvPr id="22" name="Shape 20"/>
          <p:cNvSpPr/>
          <p:nvPr/>
        </p:nvSpPr>
        <p:spPr>
          <a:xfrm>
            <a:off x="2697480" y="2377440"/>
            <a:ext cx="2834640" cy="914400"/>
          </a:xfrm>
          <a:prstGeom prst="roundRect">
            <a:avLst>
              <a:gd name="adj" fmla="val 6000"/>
            </a:avLst>
          </a:prstGeom>
          <a:solidFill>
            <a:srgbClr val="F3F6FA"/>
          </a:solidFill>
          <a:ln w="9525">
            <a:solidFill>
              <a:srgbClr val="C9D3E0"/>
            </a:solidFill>
            <a:prstDash val="solid"/>
          </a:ln>
        </p:spPr>
      </p:sp>
      <p:sp>
        <p:nvSpPr>
          <p:cNvPr id="23" name="Text 21"/>
          <p:cNvSpPr txBox="1"/>
          <p:nvPr/>
        </p:nvSpPr>
        <p:spPr>
          <a:xfrm>
            <a:off x="2788920" y="2432304"/>
            <a:ext cx="2651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Python analytics core</a:t>
            </a:r>
            <a:endParaRPr lang="en-US" sz="1100" dirty="0"/>
          </a:p>
        </p:txBody>
      </p:sp>
      <p:sp>
        <p:nvSpPr>
          <p:cNvPr id="24" name="Text 22"/>
          <p:cNvSpPr txBox="1"/>
          <p:nvPr/>
        </p:nvSpPr>
        <p:spPr>
          <a:xfrm>
            <a:off x="2788920" y="2688336"/>
            <a:ext cx="2651760" cy="54864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market/sentiment/evidence/briefs · OpenBB adapter · HF dataset boundary</a:t>
            </a:r>
            <a:endParaRPr lang="en-US" sz="850" dirty="0"/>
          </a:p>
        </p:txBody>
      </p:sp>
      <p:sp>
        <p:nvSpPr>
          <p:cNvPr id="25" name="Shape 23"/>
          <p:cNvSpPr/>
          <p:nvPr/>
        </p:nvSpPr>
        <p:spPr>
          <a:xfrm>
            <a:off x="2697480" y="3383280"/>
            <a:ext cx="2834640" cy="777240"/>
          </a:xfrm>
          <a:prstGeom prst="roundRect">
            <a:avLst>
              <a:gd name="adj" fmla="val 7059"/>
            </a:avLst>
          </a:prstGeom>
          <a:solidFill>
            <a:srgbClr val="F3F6FA"/>
          </a:solidFill>
          <a:ln w="9525">
            <a:solidFill>
              <a:srgbClr val="C9D3E0"/>
            </a:solidFill>
            <a:prstDash val="solid"/>
          </a:ln>
        </p:spPr>
      </p:sp>
      <p:sp>
        <p:nvSpPr>
          <p:cNvPr id="26" name="Text 24"/>
          <p:cNvSpPr txBox="1"/>
          <p:nvPr/>
        </p:nvSpPr>
        <p:spPr>
          <a:xfrm>
            <a:off x="2788920" y="3438144"/>
            <a:ext cx="2651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DuckDB</a:t>
            </a:r>
            <a:endParaRPr lang="en-US" sz="1100" dirty="0"/>
          </a:p>
        </p:txBody>
      </p:sp>
      <p:sp>
        <p:nvSpPr>
          <p:cNvPr id="27" name="Text 25"/>
          <p:cNvSpPr txBox="1"/>
          <p:nvPr/>
        </p:nvSpPr>
        <p:spPr>
          <a:xfrm>
            <a:off x="2788920" y="3694176"/>
            <a:ext cx="2651760" cy="41148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dataset manifest · research runs · audit events</a:t>
            </a:r>
            <a:endParaRPr lang="en-US" sz="850" dirty="0"/>
          </a:p>
        </p:txBody>
      </p:sp>
      <p:sp>
        <p:nvSpPr>
          <p:cNvPr id="28" name="Shape 26"/>
          <p:cNvSpPr/>
          <p:nvPr/>
        </p:nvSpPr>
        <p:spPr>
          <a:xfrm>
            <a:off x="6309360" y="1188720"/>
            <a:ext cx="2377440" cy="685800"/>
          </a:xfrm>
          <a:prstGeom prst="roundRect">
            <a:avLst>
              <a:gd name="adj" fmla="val 8000"/>
            </a:avLst>
          </a:prstGeom>
          <a:solidFill>
            <a:srgbClr val="F3F6FA"/>
          </a:solidFill>
          <a:ln w="9525">
            <a:solidFill>
              <a:srgbClr val="C9D3E0"/>
            </a:solidFill>
            <a:prstDash val="solid"/>
          </a:ln>
        </p:spPr>
      </p:sp>
      <p:sp>
        <p:nvSpPr>
          <p:cNvPr id="29" name="Text 27"/>
          <p:cNvSpPr txBox="1"/>
          <p:nvPr/>
        </p:nvSpPr>
        <p:spPr>
          <a:xfrm>
            <a:off x="6400800" y="1243584"/>
            <a:ext cx="21945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OpenBB (optional)</a:t>
            </a:r>
            <a:endParaRPr lang="en-US" sz="1100" dirty="0"/>
          </a:p>
        </p:txBody>
      </p:sp>
      <p:sp>
        <p:nvSpPr>
          <p:cNvPr id="30" name="Text 28"/>
          <p:cNvSpPr txBox="1"/>
          <p:nvPr/>
        </p:nvSpPr>
        <p:spPr>
          <a:xfrm>
            <a:off x="6400800" y="1499616"/>
            <a:ext cx="2194560" cy="32004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seeded / hybrid / live market data; absent, seeded mode runs and says so</a:t>
            </a:r>
            <a:endParaRPr lang="en-US" sz="800" dirty="0"/>
          </a:p>
        </p:txBody>
      </p:sp>
      <p:sp>
        <p:nvSpPr>
          <p:cNvPr id="31" name="Shape 29"/>
          <p:cNvSpPr/>
          <p:nvPr/>
        </p:nvSpPr>
        <p:spPr>
          <a:xfrm>
            <a:off x="6309360" y="2011680"/>
            <a:ext cx="2377440" cy="685800"/>
          </a:xfrm>
          <a:prstGeom prst="roundRect">
            <a:avLst>
              <a:gd name="adj" fmla="val 8000"/>
            </a:avLst>
          </a:prstGeom>
          <a:solidFill>
            <a:srgbClr val="F3F6FA"/>
          </a:solidFill>
          <a:ln w="9525">
            <a:solidFill>
              <a:srgbClr val="C9D3E0"/>
            </a:solidFill>
            <a:prstDash val="solid"/>
          </a:ln>
        </p:spPr>
      </p:sp>
      <p:sp>
        <p:nvSpPr>
          <p:cNvPr id="32" name="Text 30"/>
          <p:cNvSpPr txBox="1"/>
          <p:nvPr/>
        </p:nvSpPr>
        <p:spPr>
          <a:xfrm>
            <a:off x="6400800" y="2066544"/>
            <a:ext cx="21945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Hugging Face</a:t>
            </a:r>
            <a:endParaRPr lang="en-US" sz="1100" dirty="0"/>
          </a:p>
        </p:txBody>
      </p:sp>
      <p:sp>
        <p:nvSpPr>
          <p:cNvPr id="33" name="Text 31"/>
          <p:cNvSpPr txBox="1"/>
          <p:nvPr/>
        </p:nvSpPr>
        <p:spPr>
          <a:xfrm>
            <a:off x="6400800" y="2322576"/>
            <a:ext cx="2194560" cy="32004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FinanceBench + FiQA fixtures (build-time); FinBERT opt-in at runtime</a:t>
            </a:r>
            <a:endParaRPr lang="en-US" sz="800" dirty="0"/>
          </a:p>
        </p:txBody>
      </p:sp>
      <p:sp>
        <p:nvSpPr>
          <p:cNvPr id="34" name="Shape 32"/>
          <p:cNvSpPr/>
          <p:nvPr/>
        </p:nvSpPr>
        <p:spPr>
          <a:xfrm>
            <a:off x="6309360" y="2834640"/>
            <a:ext cx="2377440" cy="685800"/>
          </a:xfrm>
          <a:prstGeom prst="roundRect">
            <a:avLst>
              <a:gd name="adj" fmla="val 8000"/>
            </a:avLst>
          </a:prstGeom>
          <a:solidFill>
            <a:srgbClr val="F3F6FA"/>
          </a:solidFill>
          <a:ln w="9525">
            <a:solidFill>
              <a:srgbClr val="C9D3E0"/>
            </a:solidFill>
            <a:prstDash val="solid"/>
          </a:ln>
        </p:spPr>
      </p:sp>
      <p:sp>
        <p:nvSpPr>
          <p:cNvPr id="35" name="Text 33"/>
          <p:cNvSpPr txBox="1"/>
          <p:nvPr/>
        </p:nvSpPr>
        <p:spPr>
          <a:xfrm>
            <a:off x="6400800" y="2889504"/>
            <a:ext cx="21945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GitHub Actions</a:t>
            </a:r>
            <a:endParaRPr lang="en-US" sz="1100" dirty="0"/>
          </a:p>
        </p:txBody>
      </p:sp>
      <p:sp>
        <p:nvSpPr>
          <p:cNvPr id="36" name="Text 34"/>
          <p:cNvSpPr txBox="1"/>
          <p:nvPr/>
        </p:nvSpPr>
        <p:spPr>
          <a:xfrm>
            <a:off x="6400800" y="3145536"/>
            <a:ext cx="2194560" cy="32004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`npm run check` on every push, ubuntu-latest</a:t>
            </a:r>
            <a:endParaRPr lang="en-US" sz="800" dirty="0"/>
          </a:p>
        </p:txBody>
      </p:sp>
      <p:sp>
        <p:nvSpPr>
          <p:cNvPr id="37" name="Shape 35"/>
          <p:cNvSpPr/>
          <p:nvPr/>
        </p:nvSpPr>
        <p:spPr>
          <a:xfrm>
            <a:off x="6309360" y="3657600"/>
            <a:ext cx="2377440" cy="640080"/>
          </a:xfrm>
          <a:prstGeom prst="roundRect">
            <a:avLst>
              <a:gd name="adj" fmla="val 8571"/>
            </a:avLst>
          </a:prstGeom>
          <a:solidFill>
            <a:srgbClr val="F3F6FA"/>
          </a:solidFill>
          <a:ln w="9525">
            <a:solidFill>
              <a:srgbClr val="C9D3E0"/>
            </a:solidFill>
            <a:prstDash val="solid"/>
          </a:ln>
        </p:spPr>
      </p:sp>
      <p:sp>
        <p:nvSpPr>
          <p:cNvPr id="38" name="Text 36"/>
          <p:cNvSpPr txBox="1"/>
          <p:nvPr/>
        </p:nvSpPr>
        <p:spPr>
          <a:xfrm>
            <a:off x="6400800" y="3712464"/>
            <a:ext cx="21945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MCP client (browser/host)</a:t>
            </a:r>
            <a:endParaRPr lang="en-US" sz="1100" dirty="0"/>
          </a:p>
        </p:txBody>
      </p:sp>
      <p:sp>
        <p:nvSpPr>
          <p:cNvPr id="39" name="Text 37"/>
          <p:cNvSpPr txBox="1"/>
          <p:nvPr/>
        </p:nvSpPr>
        <p:spPr>
          <a:xfrm>
            <a:off x="6400800" y="3968496"/>
            <a:ext cx="2194560" cy="27432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reads `marketsage://runs/{run_id}` back</a:t>
            </a:r>
            <a:endParaRPr lang="en-US" sz="800" dirty="0"/>
          </a:p>
        </p:txBody>
      </p:sp>
      <p:sp>
        <p:nvSpPr>
          <p:cNvPr id="40" name="Shape 38"/>
          <p:cNvSpPr/>
          <p:nvPr/>
        </p:nvSpPr>
        <p:spPr>
          <a:xfrm flipV="1">
            <a:off x="5669280" y="1527048"/>
            <a:ext cx="640080" cy="1216152"/>
          </a:xfrm>
          <a:prstGeom prst="line">
            <a:avLst/>
          </a:prstGeom>
          <a:noFill/>
          <a:ln w="12700">
            <a:solidFill>
              <a:srgbClr val="6B7A90"/>
            </a:solidFill>
            <a:prstDash val="solid"/>
            <a:tailEnd type="triangle"/>
          </a:ln>
        </p:spPr>
      </p:sp>
      <p:sp>
        <p:nvSpPr>
          <p:cNvPr id="41" name="Shape 39"/>
          <p:cNvSpPr/>
          <p:nvPr/>
        </p:nvSpPr>
        <p:spPr>
          <a:xfrm flipV="1">
            <a:off x="5669280" y="2350008"/>
            <a:ext cx="640080" cy="484632"/>
          </a:xfrm>
          <a:prstGeom prst="line">
            <a:avLst/>
          </a:prstGeom>
          <a:noFill/>
          <a:ln w="12700">
            <a:solidFill>
              <a:srgbClr val="6B7A90"/>
            </a:solidFill>
            <a:prstDash val="solid"/>
            <a:tailEnd type="triangle"/>
          </a:ln>
        </p:spPr>
      </p:sp>
      <p:sp>
        <p:nvSpPr>
          <p:cNvPr id="42" name="Shape 40"/>
          <p:cNvSpPr/>
          <p:nvPr/>
        </p:nvSpPr>
        <p:spPr>
          <a:xfrm>
            <a:off x="5669280" y="2926080"/>
            <a:ext cx="640080" cy="246888"/>
          </a:xfrm>
          <a:prstGeom prst="line">
            <a:avLst/>
          </a:prstGeom>
          <a:noFill/>
          <a:ln w="12700">
            <a:solidFill>
              <a:srgbClr val="6B7A90"/>
            </a:solidFill>
            <a:prstDash val="solid"/>
            <a:tailEnd type="triangle"/>
          </a:ln>
        </p:spPr>
      </p:sp>
      <p:sp>
        <p:nvSpPr>
          <p:cNvPr id="43" name="Shape 41"/>
          <p:cNvSpPr/>
          <p:nvPr/>
        </p:nvSpPr>
        <p:spPr>
          <a:xfrm>
            <a:off x="5669280" y="3017520"/>
            <a:ext cx="640080" cy="960120"/>
          </a:xfrm>
          <a:prstGeom prst="line">
            <a:avLst/>
          </a:prstGeom>
          <a:noFill/>
          <a:ln w="12700">
            <a:solidFill>
              <a:srgbClr val="6B7A90"/>
            </a:solidFill>
            <a:prstDash val="solid"/>
            <a:tailEnd type="triangle"/>
          </a:ln>
        </p:spPr>
      </p:sp>
      <p:sp>
        <p:nvSpPr>
          <p:cNvPr id="44" name="Text 42"/>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Model downloads are off by default (MARKETSAGE_ENABLE_MODEL_DOWNLOADS enables FinBERT). Live OpenBB mode needs its optional dependency and provider configuration; the offline gate and CI never touch either.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C4 LEVEL 2</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Component architecture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6</a:t>
            </a:r>
            <a:endParaRPr lang="en-US" sz="800" dirty="0"/>
          </a:p>
        </p:txBody>
      </p:sp>
      <p:sp>
        <p:nvSpPr>
          <p:cNvPr id="5" name="Shape 3"/>
          <p:cNvSpPr/>
          <p:nvPr/>
        </p:nvSpPr>
        <p:spPr>
          <a:xfrm>
            <a:off x="457200" y="1188720"/>
            <a:ext cx="1965960" cy="3246120"/>
          </a:xfrm>
          <a:prstGeom prst="roundRect">
            <a:avLst>
              <a:gd name="adj" fmla="val 2791"/>
            </a:avLst>
          </a:prstGeom>
          <a:solidFill>
            <a:srgbClr val="F3F6FA"/>
          </a:solidFill>
          <a:ln w="9525">
            <a:solidFill>
              <a:srgbClr val="C9D3E0"/>
            </a:solidFill>
            <a:prstDash val="solid"/>
          </a:ln>
        </p:spPr>
      </p:sp>
      <p:sp>
        <p:nvSpPr>
          <p:cNvPr id="6" name="Text 4"/>
          <p:cNvSpPr txBox="1"/>
          <p:nvPr/>
        </p:nvSpPr>
        <p:spPr>
          <a:xfrm>
            <a:off x="548640" y="1243584"/>
            <a:ext cx="1828800" cy="27432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Go gateway (stdio)</a:t>
            </a:r>
            <a:endParaRPr lang="en-US" sz="1050" dirty="0"/>
          </a:p>
        </p:txBody>
      </p:sp>
      <p:sp>
        <p:nvSpPr>
          <p:cNvPr id="7" name="Shape 5"/>
          <p:cNvSpPr/>
          <p:nvPr/>
        </p:nvSpPr>
        <p:spPr>
          <a:xfrm>
            <a:off x="548640" y="1572768"/>
            <a:ext cx="1783080" cy="493776"/>
          </a:xfrm>
          <a:prstGeom prst="roundRect">
            <a:avLst>
              <a:gd name="adj" fmla="val 9259"/>
            </a:avLst>
          </a:prstGeom>
          <a:solidFill>
            <a:srgbClr val="FFFFFF"/>
          </a:solidFill>
          <a:ln w="9525">
            <a:solidFill>
              <a:srgbClr val="C9D3E0"/>
            </a:solidFill>
            <a:prstDash val="solid"/>
          </a:ln>
        </p:spPr>
      </p:sp>
      <p:sp>
        <p:nvSpPr>
          <p:cNvPr id="8" name="Text 6"/>
          <p:cNvSpPr txBox="1"/>
          <p:nvPr/>
        </p:nvSpPr>
        <p:spPr>
          <a:xfrm>
            <a:off x="621792" y="1600200"/>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main.go</a:t>
            </a:r>
            <a:endParaRPr lang="en-US" sz="850" dirty="0"/>
          </a:p>
        </p:txBody>
      </p:sp>
      <p:sp>
        <p:nvSpPr>
          <p:cNvPr id="9" name="Text 7"/>
          <p:cNvSpPr txBox="1"/>
          <p:nvPr/>
        </p:nvSpPr>
        <p:spPr>
          <a:xfrm>
            <a:off x="621792" y="1801368"/>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stdio transport, stderr logs</a:t>
            </a:r>
            <a:endParaRPr lang="en-US" sz="750" dirty="0"/>
          </a:p>
        </p:txBody>
      </p:sp>
      <p:sp>
        <p:nvSpPr>
          <p:cNvPr id="10" name="Shape 8"/>
          <p:cNvSpPr/>
          <p:nvPr/>
        </p:nvSpPr>
        <p:spPr>
          <a:xfrm>
            <a:off x="548640" y="2139696"/>
            <a:ext cx="1783080" cy="493776"/>
          </a:xfrm>
          <a:prstGeom prst="roundRect">
            <a:avLst>
              <a:gd name="adj" fmla="val 9259"/>
            </a:avLst>
          </a:prstGeom>
          <a:solidFill>
            <a:srgbClr val="FFFFFF"/>
          </a:solidFill>
          <a:ln w="9525">
            <a:solidFill>
              <a:srgbClr val="C9D3E0"/>
            </a:solidFill>
            <a:prstDash val="solid"/>
          </a:ln>
        </p:spPr>
      </p:sp>
      <p:sp>
        <p:nvSpPr>
          <p:cNvPr id="11" name="Text 9"/>
          <p:cNvSpPr txBox="1"/>
          <p:nvPr/>
        </p:nvSpPr>
        <p:spPr>
          <a:xfrm>
            <a:off x="621792" y="2167128"/>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server.go</a:t>
            </a:r>
            <a:endParaRPr lang="en-US" sz="850" dirty="0"/>
          </a:p>
        </p:txBody>
      </p:sp>
      <p:sp>
        <p:nvSpPr>
          <p:cNvPr id="12" name="Text 10"/>
          <p:cNvSpPr txBox="1"/>
          <p:nvPr/>
        </p:nvSpPr>
        <p:spPr>
          <a:xfrm>
            <a:off x="621792" y="2368296"/>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7 tools, 1 resource template</a:t>
            </a:r>
            <a:endParaRPr lang="en-US" sz="750" dirty="0"/>
          </a:p>
        </p:txBody>
      </p:sp>
      <p:sp>
        <p:nvSpPr>
          <p:cNvPr id="13" name="Shape 11"/>
          <p:cNvSpPr/>
          <p:nvPr/>
        </p:nvSpPr>
        <p:spPr>
          <a:xfrm>
            <a:off x="548640" y="2706624"/>
            <a:ext cx="1783080" cy="493776"/>
          </a:xfrm>
          <a:prstGeom prst="roundRect">
            <a:avLst>
              <a:gd name="adj" fmla="val 9259"/>
            </a:avLst>
          </a:prstGeom>
          <a:solidFill>
            <a:srgbClr val="FFFFFF"/>
          </a:solidFill>
          <a:ln w="9525">
            <a:solidFill>
              <a:srgbClr val="C9D3E0"/>
            </a:solidFill>
            <a:prstDash val="solid"/>
          </a:ln>
        </p:spPr>
      </p:sp>
      <p:sp>
        <p:nvSpPr>
          <p:cNvPr id="14" name="Text 12"/>
          <p:cNvSpPr txBox="1"/>
          <p:nvPr/>
        </p:nvSpPr>
        <p:spPr>
          <a:xfrm>
            <a:off x="621792" y="2734056"/>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prompts.go</a:t>
            </a:r>
            <a:endParaRPr lang="en-US" sz="850" dirty="0"/>
          </a:p>
        </p:txBody>
      </p:sp>
      <p:sp>
        <p:nvSpPr>
          <p:cNvPr id="15" name="Text 13"/>
          <p:cNvSpPr txBox="1"/>
          <p:nvPr/>
        </p:nvSpPr>
        <p:spPr>
          <a:xfrm>
            <a:off x="621792" y="2935224"/>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4 MCP prompts</a:t>
            </a:r>
            <a:endParaRPr lang="en-US" sz="750" dirty="0"/>
          </a:p>
        </p:txBody>
      </p:sp>
      <p:sp>
        <p:nvSpPr>
          <p:cNvPr id="16" name="Shape 14"/>
          <p:cNvSpPr/>
          <p:nvPr/>
        </p:nvSpPr>
        <p:spPr>
          <a:xfrm>
            <a:off x="548640" y="3273552"/>
            <a:ext cx="1783080" cy="493776"/>
          </a:xfrm>
          <a:prstGeom prst="roundRect">
            <a:avLst>
              <a:gd name="adj" fmla="val 9259"/>
            </a:avLst>
          </a:prstGeom>
          <a:solidFill>
            <a:srgbClr val="FFFFFF"/>
          </a:solidFill>
          <a:ln w="9525">
            <a:solidFill>
              <a:srgbClr val="C9D3E0"/>
            </a:solidFill>
            <a:prstDash val="solid"/>
          </a:ln>
        </p:spPr>
      </p:sp>
      <p:sp>
        <p:nvSpPr>
          <p:cNvPr id="17" name="Text 15"/>
          <p:cNvSpPr txBox="1"/>
          <p:nvPr/>
        </p:nvSpPr>
        <p:spPr>
          <a:xfrm>
            <a:off x="621792" y="3300984"/>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coreclient/</a:t>
            </a:r>
            <a:endParaRPr lang="en-US" sz="850" dirty="0"/>
          </a:p>
        </p:txBody>
      </p:sp>
      <p:sp>
        <p:nvSpPr>
          <p:cNvPr id="18" name="Text 16"/>
          <p:cNvSpPr txBox="1"/>
          <p:nvPr/>
        </p:nvSpPr>
        <p:spPr>
          <a:xfrm>
            <a:off x="621792" y="3502152"/>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HTTP client, token forward</a:t>
            </a:r>
            <a:endParaRPr lang="en-US" sz="750" dirty="0"/>
          </a:p>
        </p:txBody>
      </p:sp>
      <p:sp>
        <p:nvSpPr>
          <p:cNvPr id="19" name="Shape 17"/>
          <p:cNvSpPr/>
          <p:nvPr/>
        </p:nvSpPr>
        <p:spPr>
          <a:xfrm>
            <a:off x="2606040" y="1188720"/>
            <a:ext cx="1965960" cy="3246120"/>
          </a:xfrm>
          <a:prstGeom prst="roundRect">
            <a:avLst>
              <a:gd name="adj" fmla="val 2791"/>
            </a:avLst>
          </a:prstGeom>
          <a:solidFill>
            <a:srgbClr val="F3F6FA"/>
          </a:solidFill>
          <a:ln w="9525">
            <a:solidFill>
              <a:srgbClr val="C9D3E0"/>
            </a:solidFill>
            <a:prstDash val="solid"/>
          </a:ln>
        </p:spPr>
      </p:sp>
      <p:sp>
        <p:nvSpPr>
          <p:cNvPr id="20" name="Text 18"/>
          <p:cNvSpPr txBox="1"/>
          <p:nvPr/>
        </p:nvSpPr>
        <p:spPr>
          <a:xfrm>
            <a:off x="2697480" y="1243584"/>
            <a:ext cx="1828800" cy="27432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Python core</a:t>
            </a:r>
            <a:endParaRPr lang="en-US" sz="1050" dirty="0"/>
          </a:p>
        </p:txBody>
      </p:sp>
      <p:sp>
        <p:nvSpPr>
          <p:cNvPr id="21" name="Shape 19"/>
          <p:cNvSpPr/>
          <p:nvPr/>
        </p:nvSpPr>
        <p:spPr>
          <a:xfrm>
            <a:off x="2697480" y="1572768"/>
            <a:ext cx="1783080" cy="493776"/>
          </a:xfrm>
          <a:prstGeom prst="roundRect">
            <a:avLst>
              <a:gd name="adj" fmla="val 9259"/>
            </a:avLst>
          </a:prstGeom>
          <a:solidFill>
            <a:srgbClr val="FFFFFF"/>
          </a:solidFill>
          <a:ln w="9525">
            <a:solidFill>
              <a:srgbClr val="C9D3E0"/>
            </a:solidFill>
            <a:prstDash val="solid"/>
          </a:ln>
        </p:spPr>
      </p:sp>
      <p:sp>
        <p:nvSpPr>
          <p:cNvPr id="22" name="Text 20"/>
          <p:cNvSpPr txBox="1"/>
          <p:nvPr/>
        </p:nvSpPr>
        <p:spPr>
          <a:xfrm>
            <a:off x="2770632" y="1600200"/>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openbb_adapter.py</a:t>
            </a:r>
            <a:endParaRPr lang="en-US" sz="850" dirty="0"/>
          </a:p>
        </p:txBody>
      </p:sp>
      <p:sp>
        <p:nvSpPr>
          <p:cNvPr id="23" name="Text 21"/>
          <p:cNvSpPr txBox="1"/>
          <p:nvPr/>
        </p:nvSpPr>
        <p:spPr>
          <a:xfrm>
            <a:off x="2770632" y="1801368"/>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seeded/hybrid/live modes</a:t>
            </a:r>
            <a:endParaRPr lang="en-US" sz="750" dirty="0"/>
          </a:p>
        </p:txBody>
      </p:sp>
      <p:sp>
        <p:nvSpPr>
          <p:cNvPr id="24" name="Shape 22"/>
          <p:cNvSpPr/>
          <p:nvPr/>
        </p:nvSpPr>
        <p:spPr>
          <a:xfrm>
            <a:off x="2697480" y="2139696"/>
            <a:ext cx="1783080" cy="493776"/>
          </a:xfrm>
          <a:prstGeom prst="roundRect">
            <a:avLst>
              <a:gd name="adj" fmla="val 9259"/>
            </a:avLst>
          </a:prstGeom>
          <a:solidFill>
            <a:srgbClr val="FFFFFF"/>
          </a:solidFill>
          <a:ln w="9525">
            <a:solidFill>
              <a:srgbClr val="C9D3E0"/>
            </a:solidFill>
            <a:prstDash val="solid"/>
          </a:ln>
        </p:spPr>
      </p:sp>
      <p:sp>
        <p:nvSpPr>
          <p:cNvPr id="25" name="Text 23"/>
          <p:cNvSpPr txBox="1"/>
          <p:nvPr/>
        </p:nvSpPr>
        <p:spPr>
          <a:xfrm>
            <a:off x="2770632" y="2167128"/>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datasets.py</a:t>
            </a:r>
            <a:endParaRPr lang="en-US" sz="850" dirty="0"/>
          </a:p>
        </p:txBody>
      </p:sp>
      <p:sp>
        <p:nvSpPr>
          <p:cNvPr id="26" name="Text 24"/>
          <p:cNvSpPr txBox="1"/>
          <p:nvPr/>
        </p:nvSpPr>
        <p:spPr>
          <a:xfrm>
            <a:off x="2770632" y="2368296"/>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HF manifest + status</a:t>
            </a:r>
            <a:endParaRPr lang="en-US" sz="750" dirty="0"/>
          </a:p>
        </p:txBody>
      </p:sp>
      <p:sp>
        <p:nvSpPr>
          <p:cNvPr id="27" name="Shape 25"/>
          <p:cNvSpPr/>
          <p:nvPr/>
        </p:nvSpPr>
        <p:spPr>
          <a:xfrm>
            <a:off x="2697480" y="2706624"/>
            <a:ext cx="1783080" cy="493776"/>
          </a:xfrm>
          <a:prstGeom prst="roundRect">
            <a:avLst>
              <a:gd name="adj" fmla="val 9259"/>
            </a:avLst>
          </a:prstGeom>
          <a:solidFill>
            <a:srgbClr val="FFFFFF"/>
          </a:solidFill>
          <a:ln w="9525">
            <a:solidFill>
              <a:srgbClr val="C9D3E0"/>
            </a:solidFill>
            <a:prstDash val="solid"/>
          </a:ln>
        </p:spPr>
      </p:sp>
      <p:sp>
        <p:nvSpPr>
          <p:cNvPr id="28" name="Text 26"/>
          <p:cNvSpPr txBox="1"/>
          <p:nvPr/>
        </p:nvSpPr>
        <p:spPr>
          <a:xfrm>
            <a:off x="2770632" y="2734056"/>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sentiment.py</a:t>
            </a:r>
            <a:endParaRPr lang="en-US" sz="850" dirty="0"/>
          </a:p>
        </p:txBody>
      </p:sp>
      <p:sp>
        <p:nvSpPr>
          <p:cNvPr id="29" name="Text 27"/>
          <p:cNvSpPr txBox="1"/>
          <p:nvPr/>
        </p:nvSpPr>
        <p:spPr>
          <a:xfrm>
            <a:off x="2770632" y="2935224"/>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lexicon default, FinBERT opt-in</a:t>
            </a:r>
            <a:endParaRPr lang="en-US" sz="750" dirty="0"/>
          </a:p>
        </p:txBody>
      </p:sp>
      <p:sp>
        <p:nvSpPr>
          <p:cNvPr id="30" name="Shape 28"/>
          <p:cNvSpPr/>
          <p:nvPr/>
        </p:nvSpPr>
        <p:spPr>
          <a:xfrm>
            <a:off x="2697480" y="3273552"/>
            <a:ext cx="1783080" cy="493776"/>
          </a:xfrm>
          <a:prstGeom prst="roundRect">
            <a:avLst>
              <a:gd name="adj" fmla="val 9259"/>
            </a:avLst>
          </a:prstGeom>
          <a:solidFill>
            <a:srgbClr val="FFFFFF"/>
          </a:solidFill>
          <a:ln w="9525">
            <a:solidFill>
              <a:srgbClr val="C9D3E0"/>
            </a:solidFill>
            <a:prstDash val="solid"/>
          </a:ln>
        </p:spPr>
      </p:sp>
      <p:sp>
        <p:nvSpPr>
          <p:cNvPr id="31" name="Text 29"/>
          <p:cNvSpPr txBox="1"/>
          <p:nvPr/>
        </p:nvSpPr>
        <p:spPr>
          <a:xfrm>
            <a:off x="2770632" y="3300984"/>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retrieval.py</a:t>
            </a:r>
            <a:endParaRPr lang="en-US" sz="850" dirty="0"/>
          </a:p>
        </p:txBody>
      </p:sp>
      <p:sp>
        <p:nvSpPr>
          <p:cNvPr id="32" name="Text 30"/>
          <p:cNvSpPr txBox="1"/>
          <p:nvPr/>
        </p:nvSpPr>
        <p:spPr>
          <a:xfrm>
            <a:off x="2770632" y="3502152"/>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BM25 over FinanceBench</a:t>
            </a:r>
            <a:endParaRPr lang="en-US" sz="750" dirty="0"/>
          </a:p>
        </p:txBody>
      </p:sp>
      <p:sp>
        <p:nvSpPr>
          <p:cNvPr id="33" name="Shape 31"/>
          <p:cNvSpPr/>
          <p:nvPr/>
        </p:nvSpPr>
        <p:spPr>
          <a:xfrm>
            <a:off x="2697480" y="3840480"/>
            <a:ext cx="1783080" cy="493776"/>
          </a:xfrm>
          <a:prstGeom prst="roundRect">
            <a:avLst>
              <a:gd name="adj" fmla="val 9259"/>
            </a:avLst>
          </a:prstGeom>
          <a:solidFill>
            <a:srgbClr val="FFFFFF"/>
          </a:solidFill>
          <a:ln w="9525">
            <a:solidFill>
              <a:srgbClr val="C9D3E0"/>
            </a:solidFill>
            <a:prstDash val="solid"/>
          </a:ln>
        </p:spPr>
      </p:sp>
      <p:sp>
        <p:nvSpPr>
          <p:cNvPr id="34" name="Text 32"/>
          <p:cNvSpPr txBox="1"/>
          <p:nvPr/>
        </p:nvSpPr>
        <p:spPr>
          <a:xfrm>
            <a:off x="2770632" y="3867912"/>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briefs.py</a:t>
            </a:r>
            <a:endParaRPr lang="en-US" sz="850" dirty="0"/>
          </a:p>
        </p:txBody>
      </p:sp>
      <p:sp>
        <p:nvSpPr>
          <p:cNvPr id="35" name="Text 33"/>
          <p:cNvSpPr txBox="1"/>
          <p:nvPr/>
        </p:nvSpPr>
        <p:spPr>
          <a:xfrm>
            <a:off x="2770632" y="4069080"/>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sections + references</a:t>
            </a:r>
            <a:endParaRPr lang="en-US" sz="750" dirty="0"/>
          </a:p>
        </p:txBody>
      </p:sp>
      <p:sp>
        <p:nvSpPr>
          <p:cNvPr id="36" name="Shape 34"/>
          <p:cNvSpPr/>
          <p:nvPr/>
        </p:nvSpPr>
        <p:spPr>
          <a:xfrm>
            <a:off x="4754880" y="1188720"/>
            <a:ext cx="1965960" cy="3246120"/>
          </a:xfrm>
          <a:prstGeom prst="roundRect">
            <a:avLst>
              <a:gd name="adj" fmla="val 2791"/>
            </a:avLst>
          </a:prstGeom>
          <a:solidFill>
            <a:srgbClr val="F3F6FA"/>
          </a:solidFill>
          <a:ln w="9525">
            <a:solidFill>
              <a:srgbClr val="C9D3E0"/>
            </a:solidFill>
            <a:prstDash val="solid"/>
          </a:ln>
        </p:spPr>
      </p:sp>
      <p:sp>
        <p:nvSpPr>
          <p:cNvPr id="37" name="Text 35"/>
          <p:cNvSpPr txBox="1"/>
          <p:nvPr/>
        </p:nvSpPr>
        <p:spPr>
          <a:xfrm>
            <a:off x="4846320" y="1243584"/>
            <a:ext cx="1828800" cy="27432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Persistence + API</a:t>
            </a:r>
            <a:endParaRPr lang="en-US" sz="1050" dirty="0"/>
          </a:p>
        </p:txBody>
      </p:sp>
      <p:sp>
        <p:nvSpPr>
          <p:cNvPr id="38" name="Shape 36"/>
          <p:cNvSpPr/>
          <p:nvPr/>
        </p:nvSpPr>
        <p:spPr>
          <a:xfrm>
            <a:off x="4846320" y="1572768"/>
            <a:ext cx="1783080" cy="493776"/>
          </a:xfrm>
          <a:prstGeom prst="roundRect">
            <a:avLst>
              <a:gd name="adj" fmla="val 9259"/>
            </a:avLst>
          </a:prstGeom>
          <a:solidFill>
            <a:srgbClr val="FFFFFF"/>
          </a:solidFill>
          <a:ln w="9525">
            <a:solidFill>
              <a:srgbClr val="C9D3E0"/>
            </a:solidFill>
            <a:prstDash val="solid"/>
          </a:ln>
        </p:spPr>
      </p:sp>
      <p:sp>
        <p:nvSpPr>
          <p:cNvPr id="39" name="Text 37"/>
          <p:cNvSpPr txBox="1"/>
          <p:nvPr/>
        </p:nvSpPr>
        <p:spPr>
          <a:xfrm>
            <a:off x="4919472" y="1600200"/>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storage.py / repo.py</a:t>
            </a:r>
            <a:endParaRPr lang="en-US" sz="850" dirty="0"/>
          </a:p>
        </p:txBody>
      </p:sp>
      <p:sp>
        <p:nvSpPr>
          <p:cNvPr id="40" name="Text 38"/>
          <p:cNvSpPr txBox="1"/>
          <p:nvPr/>
        </p:nvSpPr>
        <p:spPr>
          <a:xfrm>
            <a:off x="4919472" y="1801368"/>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DuckDB: manifest, runs, audit</a:t>
            </a:r>
            <a:endParaRPr lang="en-US" sz="750" dirty="0"/>
          </a:p>
        </p:txBody>
      </p:sp>
      <p:sp>
        <p:nvSpPr>
          <p:cNvPr id="41" name="Shape 39"/>
          <p:cNvSpPr/>
          <p:nvPr/>
        </p:nvSpPr>
        <p:spPr>
          <a:xfrm>
            <a:off x="4846320" y="2139696"/>
            <a:ext cx="1783080" cy="493776"/>
          </a:xfrm>
          <a:prstGeom prst="roundRect">
            <a:avLst>
              <a:gd name="adj" fmla="val 9259"/>
            </a:avLst>
          </a:prstGeom>
          <a:solidFill>
            <a:srgbClr val="FFFFFF"/>
          </a:solidFill>
          <a:ln w="9525">
            <a:solidFill>
              <a:srgbClr val="C9D3E0"/>
            </a:solidFill>
            <a:prstDash val="solid"/>
          </a:ln>
        </p:spPr>
      </p:sp>
      <p:sp>
        <p:nvSpPr>
          <p:cNvPr id="42" name="Text 40"/>
          <p:cNvSpPr txBox="1"/>
          <p:nvPr/>
        </p:nvSpPr>
        <p:spPr>
          <a:xfrm>
            <a:off x="4919472" y="2167128"/>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routes.py</a:t>
            </a:r>
            <a:endParaRPr lang="en-US" sz="850" dirty="0"/>
          </a:p>
        </p:txBody>
      </p:sp>
      <p:sp>
        <p:nvSpPr>
          <p:cNvPr id="43" name="Text 41"/>
          <p:cNvSpPr txBox="1"/>
          <p:nvPr/>
        </p:nvSpPr>
        <p:spPr>
          <a:xfrm>
            <a:off x="4919472" y="2368296"/>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HTTP surface, JSON envelope</a:t>
            </a:r>
            <a:endParaRPr lang="en-US" sz="750" dirty="0"/>
          </a:p>
        </p:txBody>
      </p:sp>
      <p:sp>
        <p:nvSpPr>
          <p:cNvPr id="44" name="Shape 42"/>
          <p:cNvSpPr/>
          <p:nvPr/>
        </p:nvSpPr>
        <p:spPr>
          <a:xfrm>
            <a:off x="4846320" y="2706624"/>
            <a:ext cx="1783080" cy="493776"/>
          </a:xfrm>
          <a:prstGeom prst="roundRect">
            <a:avLst>
              <a:gd name="adj" fmla="val 9259"/>
            </a:avLst>
          </a:prstGeom>
          <a:solidFill>
            <a:srgbClr val="FFFFFF"/>
          </a:solidFill>
          <a:ln w="9525">
            <a:solidFill>
              <a:srgbClr val="C9D3E0"/>
            </a:solidFill>
            <a:prstDash val="solid"/>
          </a:ln>
        </p:spPr>
      </p:sp>
      <p:sp>
        <p:nvSpPr>
          <p:cNvPr id="45" name="Text 43"/>
          <p:cNvSpPr txBox="1"/>
          <p:nvPr/>
        </p:nvSpPr>
        <p:spPr>
          <a:xfrm>
            <a:off x="4919472" y="2734056"/>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config.py</a:t>
            </a:r>
            <a:endParaRPr lang="en-US" sz="850" dirty="0"/>
          </a:p>
        </p:txBody>
      </p:sp>
      <p:sp>
        <p:nvSpPr>
          <p:cNvPr id="46" name="Text 44"/>
          <p:cNvSpPr txBox="1"/>
          <p:nvPr/>
        </p:nvSpPr>
        <p:spPr>
          <a:xfrm>
            <a:off x="4919472" y="2935224"/>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modes, switches, from env</a:t>
            </a:r>
            <a:endParaRPr lang="en-US" sz="750" dirty="0"/>
          </a:p>
        </p:txBody>
      </p:sp>
      <p:sp>
        <p:nvSpPr>
          <p:cNvPr id="47" name="Shape 45"/>
          <p:cNvSpPr/>
          <p:nvPr/>
        </p:nvSpPr>
        <p:spPr>
          <a:xfrm>
            <a:off x="6903720" y="1188720"/>
            <a:ext cx="1965960" cy="3246120"/>
          </a:xfrm>
          <a:prstGeom prst="roundRect">
            <a:avLst>
              <a:gd name="adj" fmla="val 2791"/>
            </a:avLst>
          </a:prstGeom>
          <a:solidFill>
            <a:srgbClr val="F3F6FA"/>
          </a:solidFill>
          <a:ln w="9525">
            <a:solidFill>
              <a:srgbClr val="C9D3E0"/>
            </a:solidFill>
            <a:prstDash val="solid"/>
          </a:ln>
        </p:spPr>
      </p:sp>
      <p:sp>
        <p:nvSpPr>
          <p:cNvPr id="48" name="Text 46"/>
          <p:cNvSpPr txBox="1"/>
          <p:nvPr/>
        </p:nvSpPr>
        <p:spPr>
          <a:xfrm>
            <a:off x="6995160" y="1243584"/>
            <a:ext cx="1828800" cy="27432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Clients + contracts</a:t>
            </a:r>
            <a:endParaRPr lang="en-US" sz="1050" dirty="0"/>
          </a:p>
        </p:txBody>
      </p:sp>
      <p:sp>
        <p:nvSpPr>
          <p:cNvPr id="49" name="Shape 47"/>
          <p:cNvSpPr/>
          <p:nvPr/>
        </p:nvSpPr>
        <p:spPr>
          <a:xfrm>
            <a:off x="6995160" y="1572768"/>
            <a:ext cx="1783080" cy="493776"/>
          </a:xfrm>
          <a:prstGeom prst="roundRect">
            <a:avLst>
              <a:gd name="adj" fmla="val 9259"/>
            </a:avLst>
          </a:prstGeom>
          <a:solidFill>
            <a:srgbClr val="FFFFFF"/>
          </a:solidFill>
          <a:ln w="9525">
            <a:solidFill>
              <a:srgbClr val="C9D3E0"/>
            </a:solidFill>
            <a:prstDash val="solid"/>
          </a:ln>
        </p:spPr>
      </p:sp>
      <p:sp>
        <p:nvSpPr>
          <p:cNvPr id="50" name="Text 48"/>
          <p:cNvSpPr txBox="1"/>
          <p:nvPr/>
        </p:nvSpPr>
        <p:spPr>
          <a:xfrm>
            <a:off x="7068312" y="1600200"/>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mcp-cli</a:t>
            </a:r>
            <a:endParaRPr lang="en-US" sz="850" dirty="0"/>
          </a:p>
        </p:txBody>
      </p:sp>
      <p:sp>
        <p:nvSpPr>
          <p:cNvPr id="51" name="Text 49"/>
          <p:cNvSpPr txBox="1"/>
          <p:nvPr/>
        </p:nvSpPr>
        <p:spPr>
          <a:xfrm>
            <a:off x="7068312" y="1801368"/>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TS MCP client, `demo:mcp`</a:t>
            </a:r>
            <a:endParaRPr lang="en-US" sz="750" dirty="0"/>
          </a:p>
        </p:txBody>
      </p:sp>
      <p:sp>
        <p:nvSpPr>
          <p:cNvPr id="52" name="Shape 50"/>
          <p:cNvSpPr/>
          <p:nvPr/>
        </p:nvSpPr>
        <p:spPr>
          <a:xfrm>
            <a:off x="6995160" y="2139696"/>
            <a:ext cx="1783080" cy="493776"/>
          </a:xfrm>
          <a:prstGeom prst="roundRect">
            <a:avLst>
              <a:gd name="adj" fmla="val 9259"/>
            </a:avLst>
          </a:prstGeom>
          <a:solidFill>
            <a:srgbClr val="FFFFFF"/>
          </a:solidFill>
          <a:ln w="9525">
            <a:solidFill>
              <a:srgbClr val="C9D3E0"/>
            </a:solidFill>
            <a:prstDash val="solid"/>
          </a:ln>
        </p:spPr>
      </p:sp>
      <p:sp>
        <p:nvSpPr>
          <p:cNvPr id="53" name="Text 51"/>
          <p:cNvSpPr txBox="1"/>
          <p:nvPr/>
        </p:nvSpPr>
        <p:spPr>
          <a:xfrm>
            <a:off x="7068312" y="2167128"/>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apps/web</a:t>
            </a:r>
            <a:endParaRPr lang="en-US" sz="850" dirty="0"/>
          </a:p>
        </p:txBody>
      </p:sp>
      <p:sp>
        <p:nvSpPr>
          <p:cNvPr id="54" name="Text 52"/>
          <p:cNvSpPr txBox="1"/>
          <p:nvPr/>
        </p:nvSpPr>
        <p:spPr>
          <a:xfrm>
            <a:off x="7068312" y="2368296"/>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Next.js workbench + proxy</a:t>
            </a:r>
            <a:endParaRPr lang="en-US" sz="750" dirty="0"/>
          </a:p>
        </p:txBody>
      </p:sp>
      <p:sp>
        <p:nvSpPr>
          <p:cNvPr id="55" name="Shape 53"/>
          <p:cNvSpPr/>
          <p:nvPr/>
        </p:nvSpPr>
        <p:spPr>
          <a:xfrm>
            <a:off x="6995160" y="2706624"/>
            <a:ext cx="1783080" cy="493776"/>
          </a:xfrm>
          <a:prstGeom prst="roundRect">
            <a:avLst>
              <a:gd name="adj" fmla="val 9259"/>
            </a:avLst>
          </a:prstGeom>
          <a:solidFill>
            <a:srgbClr val="FFFFFF"/>
          </a:solidFill>
          <a:ln w="9525">
            <a:solidFill>
              <a:srgbClr val="C9D3E0"/>
            </a:solidFill>
            <a:prstDash val="solid"/>
          </a:ln>
        </p:spPr>
      </p:sp>
      <p:sp>
        <p:nvSpPr>
          <p:cNvPr id="56" name="Text 54"/>
          <p:cNvSpPr txBox="1"/>
          <p:nvPr/>
        </p:nvSpPr>
        <p:spPr>
          <a:xfrm>
            <a:off x="7068312" y="2734056"/>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marketsage.schema.json</a:t>
            </a:r>
            <a:endParaRPr lang="en-US" sz="850" dirty="0"/>
          </a:p>
        </p:txBody>
      </p:sp>
      <p:sp>
        <p:nvSpPr>
          <p:cNvPr id="57" name="Text 55"/>
          <p:cNvSpPr txBox="1"/>
          <p:nvPr/>
        </p:nvSpPr>
        <p:spPr>
          <a:xfrm>
            <a:off x="7068312" y="2935224"/>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generated from Pydantic</a:t>
            </a:r>
            <a:endParaRPr lang="en-US" sz="750" dirty="0"/>
          </a:p>
        </p:txBody>
      </p:sp>
      <p:sp>
        <p:nvSpPr>
          <p:cNvPr id="58" name="Shape 56"/>
          <p:cNvSpPr/>
          <p:nvPr/>
        </p:nvSpPr>
        <p:spPr>
          <a:xfrm>
            <a:off x="6995160" y="3273552"/>
            <a:ext cx="1783080" cy="493776"/>
          </a:xfrm>
          <a:prstGeom prst="roundRect">
            <a:avLst>
              <a:gd name="adj" fmla="val 9259"/>
            </a:avLst>
          </a:prstGeom>
          <a:solidFill>
            <a:srgbClr val="FFFFFF"/>
          </a:solidFill>
          <a:ln w="9525">
            <a:solidFill>
              <a:srgbClr val="C9D3E0"/>
            </a:solidFill>
            <a:prstDash val="solid"/>
          </a:ln>
        </p:spPr>
      </p:sp>
      <p:sp>
        <p:nvSpPr>
          <p:cNvPr id="59" name="Text 57"/>
          <p:cNvSpPr txBox="1"/>
          <p:nvPr/>
        </p:nvSpPr>
        <p:spPr>
          <a:xfrm>
            <a:off x="7068312" y="3300984"/>
            <a:ext cx="1645920" cy="219456"/>
          </a:xfrm>
          <a:prstGeom prst="rect">
            <a:avLst/>
          </a:prstGeom>
          <a:noFill/>
          <a:ln/>
        </p:spPr>
        <p:txBody>
          <a:bodyPr wrap="square" lIns="0" tIns="0" rIns="0" bIns="0" rtlCol="0" anchor="ctr"/>
          <a:lstStyle/>
          <a:p>
            <a:pPr indent="0" marL="0">
              <a:buNone/>
            </a:pPr>
            <a:r>
              <a:rPr lang="en-US" sz="850" b="1" dirty="0">
                <a:solidFill>
                  <a:srgbClr val="14213D"/>
                </a:solidFill>
                <a:latin typeface="Courier New" pitchFamily="34" charset="0"/>
                <a:ea typeface="Courier New" pitchFamily="34" charset="-122"/>
                <a:cs typeface="Courier New" pitchFamily="34" charset="-120"/>
              </a:rPr>
              <a:t>Go strict decode</a:t>
            </a:r>
            <a:endParaRPr lang="en-US" sz="850" dirty="0"/>
          </a:p>
        </p:txBody>
      </p:sp>
      <p:sp>
        <p:nvSpPr>
          <p:cNvPr id="60" name="Text 58"/>
          <p:cNvSpPr txBox="1"/>
          <p:nvPr/>
        </p:nvSpPr>
        <p:spPr>
          <a:xfrm>
            <a:off x="7068312" y="3502152"/>
            <a:ext cx="1645920" cy="23774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unknown fields forbidden</a:t>
            </a:r>
            <a:endParaRPr lang="en-US" sz="750" dirty="0"/>
          </a:p>
        </p:txBody>
      </p:sp>
      <p:sp>
        <p:nvSpPr>
          <p:cNvPr id="61" name="Shape 59"/>
          <p:cNvSpPr/>
          <p:nvPr/>
        </p:nvSpPr>
        <p:spPr>
          <a:xfrm>
            <a:off x="2423160" y="2834640"/>
            <a:ext cx="182880" cy="9144"/>
          </a:xfrm>
          <a:prstGeom prst="line">
            <a:avLst/>
          </a:prstGeom>
          <a:noFill/>
          <a:ln w="25400">
            <a:solidFill>
              <a:srgbClr val="2EC4B6"/>
            </a:solidFill>
            <a:prstDash val="solid"/>
            <a:tailEnd type="triangle"/>
          </a:ln>
        </p:spPr>
      </p:sp>
      <p:sp>
        <p:nvSpPr>
          <p:cNvPr id="62" name="Shape 60"/>
          <p:cNvSpPr/>
          <p:nvPr/>
        </p:nvSpPr>
        <p:spPr>
          <a:xfrm>
            <a:off x="4572000" y="2834640"/>
            <a:ext cx="182880" cy="9144"/>
          </a:xfrm>
          <a:prstGeom prst="line">
            <a:avLst/>
          </a:prstGeom>
          <a:noFill/>
          <a:ln w="25400">
            <a:solidFill>
              <a:srgbClr val="2EC4B6"/>
            </a:solidFill>
            <a:prstDash val="solid"/>
            <a:tailEnd type="triangle"/>
          </a:ln>
        </p:spPr>
      </p:sp>
      <p:sp>
        <p:nvSpPr>
          <p:cNvPr id="63" name="Shape 61"/>
          <p:cNvSpPr/>
          <p:nvPr/>
        </p:nvSpPr>
        <p:spPr>
          <a:xfrm>
            <a:off x="6720840" y="2834640"/>
            <a:ext cx="182880" cy="9144"/>
          </a:xfrm>
          <a:prstGeom prst="line">
            <a:avLst/>
          </a:prstGeom>
          <a:noFill/>
          <a:ln w="25400">
            <a:solidFill>
              <a:srgbClr val="2EC4B6"/>
            </a:solidFill>
            <a:prstDash val="solid"/>
            <a:tailEnd type="triangle"/>
          </a:ln>
        </p:spPr>
      </p:sp>
      <p:sp>
        <p:nvSpPr>
          <p:cNvPr id="64" name="Text 62"/>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One schema, generated from the Pydantic models, describes every payload; the harness validates live responses against it and exports fixtures the Go client decodes with unknown fields forbidden.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CRITICAL FLOW</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research-brief pipeline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7</a:t>
            </a:r>
            <a:endParaRPr lang="en-US" sz="800" dirty="0"/>
          </a:p>
        </p:txBody>
      </p:sp>
      <p:sp>
        <p:nvSpPr>
          <p:cNvPr id="5" name="Shape 3"/>
          <p:cNvSpPr/>
          <p:nvPr/>
        </p:nvSpPr>
        <p:spPr>
          <a:xfrm>
            <a:off x="457200" y="1280160"/>
            <a:ext cx="1965960" cy="1234440"/>
          </a:xfrm>
          <a:prstGeom prst="roundRect">
            <a:avLst>
              <a:gd name="adj" fmla="val 4444"/>
            </a:avLst>
          </a:prstGeom>
          <a:solidFill>
            <a:srgbClr val="F3F6FA"/>
          </a:solidFill>
          <a:ln w="9525">
            <a:solidFill>
              <a:srgbClr val="C9D3E0"/>
            </a:solidFill>
            <a:prstDash val="solid"/>
          </a:ln>
        </p:spPr>
      </p:sp>
      <p:sp>
        <p:nvSpPr>
          <p:cNvPr id="6" name="Text 4"/>
          <p:cNvSpPr txBox="1"/>
          <p:nvPr/>
        </p:nvSpPr>
        <p:spPr>
          <a:xfrm>
            <a:off x="54864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1. Ticker in</a:t>
            </a:r>
            <a:endParaRPr lang="en-US" sz="1100" dirty="0"/>
          </a:p>
        </p:txBody>
      </p:sp>
      <p:sp>
        <p:nvSpPr>
          <p:cNvPr id="7" name="Text 5"/>
          <p:cNvSpPr txBox="1"/>
          <p:nvPr/>
        </p:nvSpPr>
        <p:spPr>
          <a:xfrm>
            <a:off x="54864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health_check + dataset_status confirm readiness; mode defaults to seeded</a:t>
            </a:r>
            <a:endParaRPr lang="en-US" sz="850" dirty="0"/>
          </a:p>
        </p:txBody>
      </p:sp>
      <p:sp>
        <p:nvSpPr>
          <p:cNvPr id="8" name="Shape 6"/>
          <p:cNvSpPr/>
          <p:nvPr/>
        </p:nvSpPr>
        <p:spPr>
          <a:xfrm>
            <a:off x="2423160" y="1892808"/>
            <a:ext cx="137160" cy="9144"/>
          </a:xfrm>
          <a:prstGeom prst="line">
            <a:avLst/>
          </a:prstGeom>
          <a:noFill/>
          <a:ln w="15875">
            <a:solidFill>
              <a:srgbClr val="6B7A90"/>
            </a:solidFill>
            <a:prstDash val="solid"/>
            <a:tailEnd type="triangle"/>
          </a:ln>
        </p:spPr>
      </p:sp>
      <p:sp>
        <p:nvSpPr>
          <p:cNvPr id="9" name="Shape 7"/>
          <p:cNvSpPr/>
          <p:nvPr/>
        </p:nvSpPr>
        <p:spPr>
          <a:xfrm>
            <a:off x="2560320" y="1280160"/>
            <a:ext cx="1965960" cy="1234440"/>
          </a:xfrm>
          <a:prstGeom prst="roundRect">
            <a:avLst>
              <a:gd name="adj" fmla="val 4444"/>
            </a:avLst>
          </a:prstGeom>
          <a:solidFill>
            <a:srgbClr val="F3F6FA"/>
          </a:solidFill>
          <a:ln w="9525">
            <a:solidFill>
              <a:srgbClr val="C9D3E0"/>
            </a:solidFill>
            <a:prstDash val="solid"/>
          </a:ln>
        </p:spPr>
      </p:sp>
      <p:sp>
        <p:nvSpPr>
          <p:cNvPr id="10" name="Text 8"/>
          <p:cNvSpPr txBox="1"/>
          <p:nvPr/>
        </p:nvSpPr>
        <p:spPr>
          <a:xfrm>
            <a:off x="265176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2. Market</a:t>
            </a:r>
            <a:endParaRPr lang="en-US" sz="1100" dirty="0"/>
          </a:p>
        </p:txBody>
      </p:sp>
      <p:sp>
        <p:nvSpPr>
          <p:cNvPr id="11" name="Text 9"/>
          <p:cNvSpPr txBox="1"/>
          <p:nvPr/>
        </p:nvSpPr>
        <p:spPr>
          <a:xfrm>
            <a:off x="265176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market_snapshot / price_history: seeded, hybrid (fallback + warning) or live</a:t>
            </a:r>
            <a:endParaRPr lang="en-US" sz="850" dirty="0"/>
          </a:p>
        </p:txBody>
      </p:sp>
      <p:sp>
        <p:nvSpPr>
          <p:cNvPr id="12" name="Shape 10"/>
          <p:cNvSpPr/>
          <p:nvPr/>
        </p:nvSpPr>
        <p:spPr>
          <a:xfrm>
            <a:off x="4526280" y="1892808"/>
            <a:ext cx="137160" cy="9144"/>
          </a:xfrm>
          <a:prstGeom prst="line">
            <a:avLst/>
          </a:prstGeom>
          <a:noFill/>
          <a:ln w="15875">
            <a:solidFill>
              <a:srgbClr val="6B7A90"/>
            </a:solidFill>
            <a:prstDash val="solid"/>
            <a:tailEnd type="triangle"/>
          </a:ln>
        </p:spPr>
      </p:sp>
      <p:sp>
        <p:nvSpPr>
          <p:cNvPr id="13" name="Shape 11"/>
          <p:cNvSpPr/>
          <p:nvPr/>
        </p:nvSpPr>
        <p:spPr>
          <a:xfrm>
            <a:off x="4663440" y="1280160"/>
            <a:ext cx="1965960" cy="1234440"/>
          </a:xfrm>
          <a:prstGeom prst="roundRect">
            <a:avLst>
              <a:gd name="adj" fmla="val 4444"/>
            </a:avLst>
          </a:prstGeom>
          <a:solidFill>
            <a:srgbClr val="F3F6FA"/>
          </a:solidFill>
          <a:ln w="9525">
            <a:solidFill>
              <a:srgbClr val="C9D3E0"/>
            </a:solidFill>
            <a:prstDash val="solid"/>
          </a:ln>
        </p:spPr>
      </p:sp>
      <p:sp>
        <p:nvSpPr>
          <p:cNvPr id="14" name="Text 12"/>
          <p:cNvSpPr txBox="1"/>
          <p:nvPr/>
        </p:nvSpPr>
        <p:spPr>
          <a:xfrm>
            <a:off x="475488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3. Evidence</a:t>
            </a:r>
            <a:endParaRPr lang="en-US" sz="1100" dirty="0"/>
          </a:p>
        </p:txBody>
      </p:sp>
      <p:sp>
        <p:nvSpPr>
          <p:cNvPr id="15" name="Text 13"/>
          <p:cNvSpPr txBox="1"/>
          <p:nvPr/>
        </p:nvSpPr>
        <p:spPr>
          <a:xfrm>
            <a:off x="475488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BM25 over the committed FinanceBench corpus, ticker-scoped; warns when a ticker has none</a:t>
            </a:r>
            <a:endParaRPr lang="en-US" sz="850" dirty="0"/>
          </a:p>
        </p:txBody>
      </p:sp>
      <p:sp>
        <p:nvSpPr>
          <p:cNvPr id="16" name="Shape 14"/>
          <p:cNvSpPr/>
          <p:nvPr/>
        </p:nvSpPr>
        <p:spPr>
          <a:xfrm>
            <a:off x="6629400" y="1892808"/>
            <a:ext cx="137160" cy="9144"/>
          </a:xfrm>
          <a:prstGeom prst="line">
            <a:avLst/>
          </a:prstGeom>
          <a:noFill/>
          <a:ln w="15875">
            <a:solidFill>
              <a:srgbClr val="6B7A90"/>
            </a:solidFill>
            <a:prstDash val="solid"/>
            <a:tailEnd type="triangle"/>
          </a:ln>
        </p:spPr>
      </p:sp>
      <p:sp>
        <p:nvSpPr>
          <p:cNvPr id="17" name="Shape 15"/>
          <p:cNvSpPr/>
          <p:nvPr/>
        </p:nvSpPr>
        <p:spPr>
          <a:xfrm>
            <a:off x="6766560" y="1280160"/>
            <a:ext cx="1965960" cy="1234440"/>
          </a:xfrm>
          <a:prstGeom prst="roundRect">
            <a:avLst>
              <a:gd name="adj" fmla="val 4444"/>
            </a:avLst>
          </a:prstGeom>
          <a:solidFill>
            <a:srgbClr val="F3F6FA"/>
          </a:solidFill>
          <a:ln w="9525">
            <a:solidFill>
              <a:srgbClr val="C9D3E0"/>
            </a:solidFill>
            <a:prstDash val="solid"/>
          </a:ln>
        </p:spPr>
      </p:sp>
      <p:sp>
        <p:nvSpPr>
          <p:cNvPr id="18" name="Text 16"/>
          <p:cNvSpPr txBox="1"/>
          <p:nvPr/>
        </p:nvSpPr>
        <p:spPr>
          <a:xfrm>
            <a:off x="685800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4. Sentiment</a:t>
            </a:r>
            <a:endParaRPr lang="en-US" sz="1100" dirty="0"/>
          </a:p>
        </p:txBody>
      </p:sp>
      <p:sp>
        <p:nvSpPr>
          <p:cNvPr id="19" name="Text 17"/>
          <p:cNvSpPr txBox="1"/>
          <p:nvPr/>
        </p:nvSpPr>
        <p:spPr>
          <a:xfrm>
            <a:off x="685800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lexicon fallback (marketsage-lexicon-v0) or FinBERT when enabled; warns on fallback</a:t>
            </a:r>
            <a:endParaRPr lang="en-US" sz="850" dirty="0"/>
          </a:p>
        </p:txBody>
      </p:sp>
      <p:sp>
        <p:nvSpPr>
          <p:cNvPr id="20" name="Shape 18"/>
          <p:cNvSpPr/>
          <p:nvPr/>
        </p:nvSpPr>
        <p:spPr>
          <a:xfrm>
            <a:off x="457200" y="2834640"/>
            <a:ext cx="1965960" cy="1234440"/>
          </a:xfrm>
          <a:prstGeom prst="roundRect">
            <a:avLst>
              <a:gd name="adj" fmla="val 4444"/>
            </a:avLst>
          </a:prstGeom>
          <a:solidFill>
            <a:srgbClr val="EEF6F4"/>
          </a:solidFill>
          <a:ln w="9525">
            <a:solidFill>
              <a:srgbClr val="2EC4B6"/>
            </a:solidFill>
            <a:prstDash val="solid"/>
          </a:ln>
        </p:spPr>
      </p:sp>
      <p:sp>
        <p:nvSpPr>
          <p:cNvPr id="21" name="Text 19"/>
          <p:cNvSpPr txBox="1"/>
          <p:nvPr/>
        </p:nvSpPr>
        <p:spPr>
          <a:xfrm>
            <a:off x="54864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5. Assemble</a:t>
            </a:r>
            <a:endParaRPr lang="en-US" sz="1100" dirty="0"/>
          </a:p>
        </p:txBody>
      </p:sp>
      <p:sp>
        <p:nvSpPr>
          <p:cNvPr id="22" name="Text 20"/>
          <p:cNvSpPr txBox="1"/>
          <p:nvPr/>
        </p:nvSpPr>
        <p:spPr>
          <a:xfrm>
            <a:off x="54864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briefs.py builds sections; every bullet pairs with a `references` entry</a:t>
            </a:r>
            <a:endParaRPr lang="en-US" sz="850" dirty="0"/>
          </a:p>
        </p:txBody>
      </p:sp>
      <p:sp>
        <p:nvSpPr>
          <p:cNvPr id="23" name="Shape 21"/>
          <p:cNvSpPr/>
          <p:nvPr/>
        </p:nvSpPr>
        <p:spPr>
          <a:xfrm>
            <a:off x="2423160" y="3447288"/>
            <a:ext cx="137160" cy="9144"/>
          </a:xfrm>
          <a:prstGeom prst="line">
            <a:avLst/>
          </a:prstGeom>
          <a:noFill/>
          <a:ln w="15875">
            <a:solidFill>
              <a:srgbClr val="6B7A90"/>
            </a:solidFill>
            <a:prstDash val="solid"/>
            <a:tailEnd type="triangle"/>
          </a:ln>
        </p:spPr>
      </p:sp>
      <p:sp>
        <p:nvSpPr>
          <p:cNvPr id="24" name="Shape 22"/>
          <p:cNvSpPr/>
          <p:nvPr/>
        </p:nvSpPr>
        <p:spPr>
          <a:xfrm>
            <a:off x="2560320" y="2834640"/>
            <a:ext cx="1965960" cy="1234440"/>
          </a:xfrm>
          <a:prstGeom prst="roundRect">
            <a:avLst>
              <a:gd name="adj" fmla="val 4444"/>
            </a:avLst>
          </a:prstGeom>
          <a:solidFill>
            <a:srgbClr val="EEF6F4"/>
          </a:solidFill>
          <a:ln w="9525">
            <a:solidFill>
              <a:srgbClr val="2EC4B6"/>
            </a:solidFill>
            <a:prstDash val="solid"/>
          </a:ln>
        </p:spPr>
      </p:sp>
      <p:sp>
        <p:nvSpPr>
          <p:cNvPr id="25" name="Text 23"/>
          <p:cNvSpPr txBox="1"/>
          <p:nvPr/>
        </p:nvSpPr>
        <p:spPr>
          <a:xfrm>
            <a:off x="265176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6. Persist</a:t>
            </a:r>
            <a:endParaRPr lang="en-US" sz="1100" dirty="0"/>
          </a:p>
        </p:txBody>
      </p:sp>
      <p:sp>
        <p:nvSpPr>
          <p:cNvPr id="26" name="Text 24"/>
          <p:cNvSpPr txBox="1"/>
          <p:nvPr/>
        </p:nvSpPr>
        <p:spPr>
          <a:xfrm>
            <a:off x="265176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DuckDB stores the run (input + output) and an audit_event row</a:t>
            </a:r>
            <a:endParaRPr lang="en-US" sz="850" dirty="0"/>
          </a:p>
        </p:txBody>
      </p:sp>
      <p:sp>
        <p:nvSpPr>
          <p:cNvPr id="27" name="Shape 25"/>
          <p:cNvSpPr/>
          <p:nvPr/>
        </p:nvSpPr>
        <p:spPr>
          <a:xfrm>
            <a:off x="4526280" y="3447288"/>
            <a:ext cx="137160" cy="9144"/>
          </a:xfrm>
          <a:prstGeom prst="line">
            <a:avLst/>
          </a:prstGeom>
          <a:noFill/>
          <a:ln w="15875">
            <a:solidFill>
              <a:srgbClr val="6B7A90"/>
            </a:solidFill>
            <a:prstDash val="solid"/>
            <a:tailEnd type="triangle"/>
          </a:ln>
        </p:spPr>
      </p:sp>
      <p:sp>
        <p:nvSpPr>
          <p:cNvPr id="28" name="Shape 26"/>
          <p:cNvSpPr/>
          <p:nvPr/>
        </p:nvSpPr>
        <p:spPr>
          <a:xfrm>
            <a:off x="4663440" y="2834640"/>
            <a:ext cx="1965960" cy="1234440"/>
          </a:xfrm>
          <a:prstGeom prst="roundRect">
            <a:avLst>
              <a:gd name="adj" fmla="val 4444"/>
            </a:avLst>
          </a:prstGeom>
          <a:solidFill>
            <a:srgbClr val="EEF6F4"/>
          </a:solidFill>
          <a:ln w="9525">
            <a:solidFill>
              <a:srgbClr val="2EC4B6"/>
            </a:solidFill>
            <a:prstDash val="solid"/>
          </a:ln>
        </p:spPr>
      </p:sp>
      <p:sp>
        <p:nvSpPr>
          <p:cNvPr id="29" name="Text 27"/>
          <p:cNvSpPr txBox="1"/>
          <p:nvPr/>
        </p:nvSpPr>
        <p:spPr>
          <a:xfrm>
            <a:off x="475488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7. Expose</a:t>
            </a:r>
            <a:endParaRPr lang="en-US" sz="1100" dirty="0"/>
          </a:p>
        </p:txBody>
      </p:sp>
      <p:sp>
        <p:nvSpPr>
          <p:cNvPr id="30" name="Text 28"/>
          <p:cNvSpPr txBox="1"/>
          <p:nvPr/>
        </p:nvSpPr>
        <p:spPr>
          <a:xfrm>
            <a:off x="475488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`marketsage://runs/{run_id}` resource; a client reads the saved run back</a:t>
            </a:r>
            <a:endParaRPr lang="en-US" sz="850" dirty="0"/>
          </a:p>
        </p:txBody>
      </p:sp>
      <p:sp>
        <p:nvSpPr>
          <p:cNvPr id="31" name="Shape 29"/>
          <p:cNvSpPr/>
          <p:nvPr/>
        </p:nvSpPr>
        <p:spPr>
          <a:xfrm>
            <a:off x="6629400" y="3447288"/>
            <a:ext cx="137160" cy="9144"/>
          </a:xfrm>
          <a:prstGeom prst="line">
            <a:avLst/>
          </a:prstGeom>
          <a:noFill/>
          <a:ln w="15875">
            <a:solidFill>
              <a:srgbClr val="6B7A90"/>
            </a:solidFill>
            <a:prstDash val="solid"/>
            <a:tailEnd type="triangle"/>
          </a:ln>
        </p:spPr>
      </p:sp>
      <p:sp>
        <p:nvSpPr>
          <p:cNvPr id="32" name="Shape 30"/>
          <p:cNvSpPr/>
          <p:nvPr/>
        </p:nvSpPr>
        <p:spPr>
          <a:xfrm>
            <a:off x="6766560" y="2834640"/>
            <a:ext cx="1965960" cy="1234440"/>
          </a:xfrm>
          <a:prstGeom prst="roundRect">
            <a:avLst>
              <a:gd name="adj" fmla="val 4444"/>
            </a:avLst>
          </a:prstGeom>
          <a:solidFill>
            <a:srgbClr val="EEF6F4"/>
          </a:solidFill>
          <a:ln w="9525">
            <a:solidFill>
              <a:srgbClr val="2EC4B6"/>
            </a:solidFill>
            <a:prstDash val="solid"/>
          </a:ln>
        </p:spPr>
      </p:sp>
      <p:sp>
        <p:nvSpPr>
          <p:cNvPr id="33" name="Text 31"/>
          <p:cNvSpPr txBox="1"/>
          <p:nvPr/>
        </p:nvSpPr>
        <p:spPr>
          <a:xfrm>
            <a:off x="685800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8. Render</a:t>
            </a:r>
            <a:endParaRPr lang="en-US" sz="1100" dirty="0"/>
          </a:p>
        </p:txBody>
      </p:sp>
      <p:sp>
        <p:nvSpPr>
          <p:cNvPr id="34" name="Text 32"/>
          <p:cNvSpPr txBox="1"/>
          <p:nvPr/>
        </p:nvSpPr>
        <p:spPr>
          <a:xfrm>
            <a:off x="685800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Next.js workbench shows the same brief, evidence and caveats server-side</a:t>
            </a:r>
            <a:endParaRPr lang="en-US" sz="850" dirty="0"/>
          </a:p>
        </p:txBody>
      </p:sp>
      <p:sp>
        <p:nvSpPr>
          <p:cNvPr id="35" name="Shape 33"/>
          <p:cNvSpPr/>
          <p:nvPr/>
        </p:nvSpPr>
        <p:spPr>
          <a:xfrm>
            <a:off x="8229600" y="2514600"/>
            <a:ext cx="9144" cy="320040"/>
          </a:xfrm>
          <a:prstGeom prst="line">
            <a:avLst/>
          </a:prstGeom>
          <a:noFill/>
          <a:ln w="15875">
            <a:solidFill>
              <a:srgbClr val="6B7A90"/>
            </a:solidFill>
            <a:prstDash val="solid"/>
            <a:tailEnd type="triangle"/>
          </a:ln>
        </p:spPr>
      </p:sp>
      <p:sp>
        <p:nvSpPr>
          <p:cNvPr id="36" name="Text 34"/>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Failure is first-class, not an afterthought: nine named fault injections are scored 9 / 9 handled honestly — an explicit warning on degrade, a clean error and an audit row on failure, never invented data.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DESIGN · GROUNDING</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core mechanism: every bullet carries a reference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8</a:t>
            </a:r>
            <a:endParaRPr lang="en-US" sz="800" dirty="0"/>
          </a:p>
        </p:txBody>
      </p:sp>
      <p:sp>
        <p:nvSpPr>
          <p:cNvPr id="5" name="Shape 3"/>
          <p:cNvSpPr/>
          <p:nvPr/>
        </p:nvSpPr>
        <p:spPr>
          <a:xfrm>
            <a:off x="457200" y="1188720"/>
            <a:ext cx="4206240" cy="3246120"/>
          </a:xfrm>
          <a:prstGeom prst="roundRect">
            <a:avLst>
              <a:gd name="adj" fmla="val 1690"/>
            </a:avLst>
          </a:prstGeom>
          <a:solidFill>
            <a:srgbClr val="1C2B4F"/>
          </a:solidFill>
          <a:ln w="9525">
            <a:solidFill>
              <a:srgbClr val="1C2B4F"/>
            </a:solidFill>
            <a:prstDash val="solid"/>
          </a:ln>
        </p:spPr>
      </p:sp>
      <p:sp>
        <p:nvSpPr>
          <p:cNvPr id="6" name="Text 4"/>
          <p:cNvSpPr txBox="1"/>
          <p:nvPr/>
        </p:nvSpPr>
        <p:spPr>
          <a:xfrm>
            <a:off x="594360" y="1261872"/>
            <a:ext cx="3931920" cy="274320"/>
          </a:xfrm>
          <a:prstGeom prst="rect">
            <a:avLst/>
          </a:prstGeom>
          <a:noFill/>
          <a:ln/>
        </p:spPr>
        <p:txBody>
          <a:bodyPr wrap="square" lIns="0" tIns="0" rIns="0" bIns="0" rtlCol="0" anchor="ctr"/>
          <a:lstStyle/>
          <a:p>
            <a:pPr indent="0" marL="0">
              <a:buNone/>
            </a:pPr>
            <a:r>
              <a:rPr lang="en-US" sz="1100" b="1" dirty="0">
                <a:solidFill>
                  <a:srgbClr val="2EC4B6"/>
                </a:solidFill>
                <a:latin typeface="Calibri" pitchFamily="34" charset="0"/>
                <a:ea typeface="Calibri" pitchFamily="34" charset="-122"/>
                <a:cs typeface="Calibri" pitchFamily="34" charset="-120"/>
              </a:rPr>
              <a:t>One section of a real saved run (MSFT)</a:t>
            </a:r>
            <a:endParaRPr lang="en-US" sz="1100" dirty="0"/>
          </a:p>
        </p:txBody>
      </p:sp>
      <p:sp>
        <p:nvSpPr>
          <p:cNvPr id="7" name="Text 5"/>
          <p:cNvSpPr txBox="1"/>
          <p:nvPr/>
        </p:nvSpPr>
        <p:spPr>
          <a:xfrm>
            <a:off x="594360" y="1572768"/>
            <a:ext cx="3931920" cy="1691640"/>
          </a:xfrm>
          <a:prstGeom prst="rect">
            <a:avLst/>
          </a:prstGeom>
          <a:noFill/>
          <a:ln/>
        </p:spPr>
        <p:txBody>
          <a:bodyPr wrap="square" lIns="0" tIns="0" rIns="0" bIns="0" rtlCol="0" anchor="t"/>
          <a:lstStyle/>
          <a:p>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"title": "Sentiment",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"bullets": [</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"Neutral sentiment (55% confidence,</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marketsage-lexicon-v0)."</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"references": [</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"sentiment:29e7347946b40c0470c..."</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a:t>
            </a:r>
            <a:endParaRPr lang="en-US" sz="850" dirty="0"/>
          </a:p>
        </p:txBody>
      </p:sp>
      <p:sp>
        <p:nvSpPr>
          <p:cNvPr id="8" name="Text 6"/>
          <p:cNvSpPr txBox="1"/>
          <p:nvPr/>
        </p:nvSpPr>
        <p:spPr>
          <a:xfrm>
            <a:off x="594360" y="3291840"/>
            <a:ext cx="3931920" cy="274320"/>
          </a:xfrm>
          <a:prstGeom prst="rect">
            <a:avLst/>
          </a:prstGeom>
          <a:noFill/>
          <a:ln/>
        </p:spPr>
        <p:txBody>
          <a:bodyPr wrap="square" lIns="0" tIns="0" rIns="0" bIns="0" rtlCol="0" anchor="ctr"/>
          <a:lstStyle/>
          <a:p>
            <a:pPr indent="0" marL="0">
              <a:buNone/>
            </a:pPr>
            <a:r>
              <a:rPr lang="en-US" sz="1100" b="1" dirty="0">
                <a:solidFill>
                  <a:srgbClr val="2EC4B6"/>
                </a:solidFill>
                <a:latin typeface="Calibri" pitchFamily="34" charset="0"/>
                <a:ea typeface="Calibri" pitchFamily="34" charset="-122"/>
                <a:cs typeface="Calibri" pitchFamily="34" charset="-120"/>
              </a:rPr>
              <a:t>What the harness scores</a:t>
            </a:r>
            <a:endParaRPr lang="en-US" sz="1100" dirty="0"/>
          </a:p>
        </p:txBody>
      </p:sp>
      <p:sp>
        <p:nvSpPr>
          <p:cNvPr id="9" name="Text 7"/>
          <p:cNvSpPr txBox="1"/>
          <p:nvPr/>
        </p:nvSpPr>
        <p:spPr>
          <a:xfrm>
            <a:off x="594360" y="3566160"/>
            <a:ext cx="3931920" cy="82296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DCE7F5"/>
                </a:solidFill>
                <a:latin typeface="Calibri" pitchFamily="34" charset="0"/>
                <a:ea typeface="Calibri" pitchFamily="34" charset="-122"/>
                <a:cs typeface="Calibri" pitchFamily="34" charset="-120"/>
              </a:rPr>
              <a:t>every bullet's reference must resolve to a snapshot, evidence id or sentiment hash in the same payload</a:t>
            </a:r>
            <a:endParaRPr lang="en-US" sz="900" dirty="0"/>
          </a:p>
          <a:p>
            <a:pPr marL="342900" indent="-342900">
              <a:spcAft>
                <a:spcPts val="400"/>
              </a:spcAft>
              <a:buSzPct val="100000"/>
              <a:buChar char="•"/>
            </a:pPr>
            <a:r>
              <a:rPr lang="en-US" sz="900" dirty="0">
                <a:solidFill>
                  <a:srgbClr val="DCE7F5"/>
                </a:solidFill>
                <a:latin typeface="Calibri" pitchFamily="34" charset="0"/>
                <a:ea typeface="Calibri" pitchFamily="34" charset="-122"/>
                <a:cs typeface="Calibri" pitchFamily="34" charset="-120"/>
              </a:rPr>
              <a:t>a ticker with no committed evidence says so instead of borrowing another company's</a:t>
            </a:r>
            <a:endParaRPr lang="en-US" sz="900" dirty="0"/>
          </a:p>
        </p:txBody>
      </p:sp>
      <p:sp>
        <p:nvSpPr>
          <p:cNvPr id="10" name="Shape 8"/>
          <p:cNvSpPr/>
          <p:nvPr/>
        </p:nvSpPr>
        <p:spPr>
          <a:xfrm>
            <a:off x="4937760" y="1188720"/>
            <a:ext cx="3749040" cy="731520"/>
          </a:xfrm>
          <a:prstGeom prst="roundRect">
            <a:avLst>
              <a:gd name="adj" fmla="val 7500"/>
            </a:avLst>
          </a:prstGeom>
          <a:solidFill>
            <a:srgbClr val="F3F6FA"/>
          </a:solidFill>
          <a:ln w="9525">
            <a:solidFill>
              <a:srgbClr val="C9D3E0"/>
            </a:solidFill>
            <a:prstDash val="solid"/>
          </a:ln>
        </p:spPr>
      </p:sp>
      <p:sp>
        <p:nvSpPr>
          <p:cNvPr id="11" name="Text 9"/>
          <p:cNvSpPr txBox="1"/>
          <p:nvPr/>
        </p:nvSpPr>
        <p:spPr>
          <a:xfrm>
            <a:off x="5074920" y="1243584"/>
            <a:ext cx="1188720" cy="621792"/>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12 / 12</a:t>
            </a:r>
            <a:endParaRPr lang="en-US" sz="2000" dirty="0"/>
          </a:p>
        </p:txBody>
      </p:sp>
      <p:sp>
        <p:nvSpPr>
          <p:cNvPr id="12" name="Text 10"/>
          <p:cNvSpPr txBox="1"/>
          <p:nvPr/>
        </p:nvSpPr>
        <p:spPr>
          <a:xfrm>
            <a:off x="6309360" y="1243584"/>
            <a:ext cx="2286000" cy="621792"/>
          </a:xfrm>
          <a:prstGeom prst="rect">
            <a:avLst/>
          </a:prstGeom>
          <a:noFill/>
          <a:ln/>
        </p:spPr>
        <p:txBody>
          <a:bodyPr wrap="square" lIns="0" tIns="0" rIns="0" bIns="0" rtlCol="0" anchor="ctr"/>
          <a:lstStyle/>
          <a:p>
            <a:pPr indent="0" marL="0">
              <a:buNone/>
            </a:pPr>
            <a:r>
              <a:rPr lang="en-US" sz="900" dirty="0">
                <a:solidFill>
                  <a:srgbClr val="1B2A41"/>
                </a:solidFill>
                <a:latin typeface="Calibri" pitchFamily="34" charset="0"/>
                <a:ea typeface="Calibri" pitchFamily="34" charset="-122"/>
                <a:cs typeface="Calibri" pitchFamily="34" charset="-120"/>
              </a:rPr>
              <a:t>brief claims grounded, across 5 tickers</a:t>
            </a:r>
            <a:endParaRPr lang="en-US" sz="900" dirty="0"/>
          </a:p>
        </p:txBody>
      </p:sp>
      <p:sp>
        <p:nvSpPr>
          <p:cNvPr id="13" name="Shape 11"/>
          <p:cNvSpPr/>
          <p:nvPr/>
        </p:nvSpPr>
        <p:spPr>
          <a:xfrm>
            <a:off x="4937760" y="2057400"/>
            <a:ext cx="3749040" cy="731520"/>
          </a:xfrm>
          <a:prstGeom prst="roundRect">
            <a:avLst>
              <a:gd name="adj" fmla="val 7500"/>
            </a:avLst>
          </a:prstGeom>
          <a:solidFill>
            <a:srgbClr val="F3F6FA"/>
          </a:solidFill>
          <a:ln w="9525">
            <a:solidFill>
              <a:srgbClr val="C9D3E0"/>
            </a:solidFill>
            <a:prstDash val="solid"/>
          </a:ln>
        </p:spPr>
      </p:sp>
      <p:sp>
        <p:nvSpPr>
          <p:cNvPr id="14" name="Text 12"/>
          <p:cNvSpPr txBox="1"/>
          <p:nvPr/>
        </p:nvSpPr>
        <p:spPr>
          <a:xfrm>
            <a:off x="5074920" y="2112264"/>
            <a:ext cx="1188720" cy="621792"/>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8 / 8</a:t>
            </a:r>
            <a:endParaRPr lang="en-US" sz="2000" dirty="0"/>
          </a:p>
        </p:txBody>
      </p:sp>
      <p:sp>
        <p:nvSpPr>
          <p:cNvPr id="15" name="Text 13"/>
          <p:cNvSpPr txBox="1"/>
          <p:nvPr/>
        </p:nvSpPr>
        <p:spPr>
          <a:xfrm>
            <a:off x="6309360" y="2112264"/>
            <a:ext cx="2286000" cy="621792"/>
          </a:xfrm>
          <a:prstGeom prst="rect">
            <a:avLst/>
          </a:prstGeom>
          <a:noFill/>
          <a:ln/>
        </p:spPr>
        <p:txBody>
          <a:bodyPr wrap="square" lIns="0" tIns="0" rIns="0" bIns="0" rtlCol="0" anchor="ctr"/>
          <a:lstStyle/>
          <a:p>
            <a:pPr indent="0" marL="0">
              <a:buNone/>
            </a:pPr>
            <a:r>
              <a:rPr lang="en-US" sz="900" dirty="0">
                <a:solidFill>
                  <a:srgbClr val="1B2A41"/>
                </a:solidFill>
                <a:latin typeface="Calibri" pitchFamily="34" charset="0"/>
                <a:ea typeface="Calibri" pitchFamily="34" charset="-122"/>
                <a:cs typeface="Calibri" pitchFamily="34" charset="-120"/>
              </a:rPr>
              <a:t>responses conforming to the generated JSON Schema contract</a:t>
            </a:r>
            <a:endParaRPr lang="en-US" sz="900" dirty="0"/>
          </a:p>
        </p:txBody>
      </p:sp>
      <p:sp>
        <p:nvSpPr>
          <p:cNvPr id="16" name="Shape 14"/>
          <p:cNvSpPr/>
          <p:nvPr/>
        </p:nvSpPr>
        <p:spPr>
          <a:xfrm>
            <a:off x="4937760" y="2926080"/>
            <a:ext cx="3749040" cy="731520"/>
          </a:xfrm>
          <a:prstGeom prst="roundRect">
            <a:avLst>
              <a:gd name="adj" fmla="val 7500"/>
            </a:avLst>
          </a:prstGeom>
          <a:solidFill>
            <a:srgbClr val="F3F6FA"/>
          </a:solidFill>
          <a:ln w="9525">
            <a:solidFill>
              <a:srgbClr val="C9D3E0"/>
            </a:solidFill>
            <a:prstDash val="solid"/>
          </a:ln>
        </p:spPr>
      </p:sp>
      <p:sp>
        <p:nvSpPr>
          <p:cNvPr id="17" name="Text 15"/>
          <p:cNvSpPr txBox="1"/>
          <p:nvPr/>
        </p:nvSpPr>
        <p:spPr>
          <a:xfrm>
            <a:off x="5074920" y="2980944"/>
            <a:ext cx="1188720" cy="621792"/>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9 / 9</a:t>
            </a:r>
            <a:endParaRPr lang="en-US" sz="2000" dirty="0"/>
          </a:p>
        </p:txBody>
      </p:sp>
      <p:sp>
        <p:nvSpPr>
          <p:cNvPr id="18" name="Text 16"/>
          <p:cNvSpPr txBox="1"/>
          <p:nvPr/>
        </p:nvSpPr>
        <p:spPr>
          <a:xfrm>
            <a:off x="6309360" y="2980944"/>
            <a:ext cx="2286000" cy="621792"/>
          </a:xfrm>
          <a:prstGeom prst="rect">
            <a:avLst/>
          </a:prstGeom>
          <a:noFill/>
          <a:ln/>
        </p:spPr>
        <p:txBody>
          <a:bodyPr wrap="square" lIns="0" tIns="0" rIns="0" bIns="0" rtlCol="0" anchor="ctr"/>
          <a:lstStyle/>
          <a:p>
            <a:pPr indent="0" marL="0">
              <a:buNone/>
            </a:pPr>
            <a:r>
              <a:rPr lang="en-US" sz="900" dirty="0">
                <a:solidFill>
                  <a:srgbClr val="1B2A41"/>
                </a:solidFill>
                <a:latin typeface="Calibri" pitchFamily="34" charset="0"/>
                <a:ea typeface="Calibri" pitchFamily="34" charset="-122"/>
                <a:cs typeface="Calibri" pitchFamily="34" charset="-120"/>
              </a:rPr>
              <a:t>fault injections handled with a warning or a clean error, never invented data</a:t>
            </a:r>
            <a:endParaRPr lang="en-US" sz="900" dirty="0"/>
          </a:p>
        </p:txBody>
      </p:sp>
      <p:sp>
        <p:nvSpPr>
          <p:cNvPr id="19" name="Shape 17"/>
          <p:cNvSpPr/>
          <p:nvPr/>
        </p:nvSpPr>
        <p:spPr>
          <a:xfrm>
            <a:off x="4937760" y="3794760"/>
            <a:ext cx="3749040" cy="640080"/>
          </a:xfrm>
          <a:prstGeom prst="roundRect">
            <a:avLst>
              <a:gd name="adj" fmla="val 8571"/>
            </a:avLst>
          </a:prstGeom>
          <a:solidFill>
            <a:srgbClr val="F3F6FA"/>
          </a:solidFill>
          <a:ln w="9525">
            <a:solidFill>
              <a:srgbClr val="C9D3E0"/>
            </a:solidFill>
            <a:prstDash val="solid"/>
          </a:ln>
        </p:spPr>
      </p:sp>
      <p:sp>
        <p:nvSpPr>
          <p:cNvPr id="20" name="Text 18"/>
          <p:cNvSpPr txBox="1"/>
          <p:nvPr/>
        </p:nvSpPr>
        <p:spPr>
          <a:xfrm>
            <a:off x="5029200" y="3849624"/>
            <a:ext cx="35661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Why this matters to a reviewer</a:t>
            </a:r>
            <a:endParaRPr lang="en-US" sz="1100" dirty="0"/>
          </a:p>
        </p:txBody>
      </p:sp>
      <p:sp>
        <p:nvSpPr>
          <p:cNvPr id="21" name="Text 19"/>
          <p:cNvSpPr txBox="1"/>
          <p:nvPr/>
        </p:nvSpPr>
        <p:spPr>
          <a:xfrm>
            <a:off x="5029200" y="4105656"/>
            <a:ext cx="3566160" cy="27432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The reference list is the control, and the eval suite reports grounding as a headline KPI, not a claim about prose quality.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DATA</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Data architecture: fixtures, runs, audit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9</a:t>
            </a:r>
            <a:endParaRPr lang="en-US" sz="800" dirty="0"/>
          </a:p>
        </p:txBody>
      </p:sp>
      <p:sp>
        <p:nvSpPr>
          <p:cNvPr id="5" name="Shape 3"/>
          <p:cNvSpPr/>
          <p:nvPr/>
        </p:nvSpPr>
        <p:spPr>
          <a:xfrm>
            <a:off x="457200" y="1188720"/>
            <a:ext cx="2651760" cy="1737360"/>
          </a:xfrm>
          <a:prstGeom prst="roundRect">
            <a:avLst>
              <a:gd name="adj" fmla="val 3158"/>
            </a:avLst>
          </a:prstGeom>
          <a:solidFill>
            <a:srgbClr val="F3F6FA"/>
          </a:solidFill>
          <a:ln w="9525">
            <a:solidFill>
              <a:srgbClr val="C9D3E0"/>
            </a:solidFill>
            <a:prstDash val="solid"/>
          </a:ln>
        </p:spPr>
      </p:sp>
      <p:sp>
        <p:nvSpPr>
          <p:cNvPr id="6" name="Text 4"/>
          <p:cNvSpPr txBox="1"/>
          <p:nvPr/>
        </p:nvSpPr>
        <p:spPr>
          <a:xfrm>
            <a:off x="54864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Committed fixtures (MIT)</a:t>
            </a:r>
            <a:endParaRPr lang="en-US" sz="1100" dirty="0"/>
          </a:p>
        </p:txBody>
      </p:sp>
      <p:sp>
        <p:nvSpPr>
          <p:cNvPr id="7" name="Text 5"/>
          <p:cNvSpPr txBox="1"/>
          <p:nvPr/>
        </p:nvSpPr>
        <p:spPr>
          <a:xfrm>
            <a:off x="548640" y="1499616"/>
            <a:ext cx="2468880" cy="137160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FinanceBenchRetrieval: corpus/test 145 rows, queries/test 150, qrels/test 150. fiqa-sentiment-classification default/test 234 rows. sha256-pinned in data/fixtures/manifest.json; 32 companies mapped by ticker.</a:t>
            </a:r>
            <a:endParaRPr lang="en-US" sz="900" dirty="0"/>
          </a:p>
        </p:txBody>
      </p:sp>
      <p:sp>
        <p:nvSpPr>
          <p:cNvPr id="8" name="Shape 6"/>
          <p:cNvSpPr/>
          <p:nvPr/>
        </p:nvSpPr>
        <p:spPr>
          <a:xfrm>
            <a:off x="457200" y="3063240"/>
            <a:ext cx="2651760" cy="1371600"/>
          </a:xfrm>
          <a:prstGeom prst="roundRect">
            <a:avLst>
              <a:gd name="adj" fmla="val 4000"/>
            </a:avLst>
          </a:prstGeom>
          <a:solidFill>
            <a:srgbClr val="F3F6FA"/>
          </a:solidFill>
          <a:ln w="9525">
            <a:solidFill>
              <a:srgbClr val="C9D3E0"/>
            </a:solidFill>
            <a:prstDash val="solid"/>
          </a:ln>
        </p:spPr>
      </p:sp>
      <p:sp>
        <p:nvSpPr>
          <p:cNvPr id="9" name="Text 7"/>
          <p:cNvSpPr txBox="1"/>
          <p:nvPr/>
        </p:nvSpPr>
        <p:spPr>
          <a:xfrm>
            <a:off x="548640" y="311810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Coverage is explicit</a:t>
            </a:r>
            <a:endParaRPr lang="en-US" sz="1100" dirty="0"/>
          </a:p>
        </p:txBody>
      </p:sp>
      <p:sp>
        <p:nvSpPr>
          <p:cNvPr id="10" name="Text 8"/>
          <p:cNvSpPr txBox="1"/>
          <p:nvPr/>
        </p:nvSpPr>
        <p:spPr>
          <a:xfrm>
            <a:off x="548640" y="3374136"/>
            <a:ext cx="2468880" cy="10058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Only 2 of 5 seeded tickers (MSFT, JPM) have filing excerpts in the corpus; the other 3 get a stated coverage warning instead of borrowed evidence.</a:t>
            </a:r>
            <a:endParaRPr lang="en-US" sz="900" dirty="0"/>
          </a:p>
        </p:txBody>
      </p:sp>
      <p:sp>
        <p:nvSpPr>
          <p:cNvPr id="11" name="Shape 9"/>
          <p:cNvSpPr/>
          <p:nvPr/>
        </p:nvSpPr>
        <p:spPr>
          <a:xfrm>
            <a:off x="3108960" y="2011680"/>
            <a:ext cx="640080" cy="365760"/>
          </a:xfrm>
          <a:prstGeom prst="line">
            <a:avLst/>
          </a:prstGeom>
          <a:noFill/>
          <a:ln w="25400">
            <a:solidFill>
              <a:srgbClr val="2EC4B6"/>
            </a:solidFill>
            <a:prstDash val="solid"/>
            <a:tailEnd type="triangle"/>
          </a:ln>
        </p:spPr>
      </p:sp>
      <p:sp>
        <p:nvSpPr>
          <p:cNvPr id="12" name="Shape 10"/>
          <p:cNvSpPr/>
          <p:nvPr/>
        </p:nvSpPr>
        <p:spPr>
          <a:xfrm flipV="1">
            <a:off x="3108960" y="2926080"/>
            <a:ext cx="640080" cy="731520"/>
          </a:xfrm>
          <a:prstGeom prst="line">
            <a:avLst/>
          </a:prstGeom>
          <a:noFill/>
          <a:ln w="25400">
            <a:solidFill>
              <a:srgbClr val="2EC4B6"/>
            </a:solidFill>
            <a:prstDash val="solid"/>
            <a:tailEnd type="triangle"/>
          </a:ln>
        </p:spPr>
      </p:sp>
      <p:sp>
        <p:nvSpPr>
          <p:cNvPr id="13" name="Shape 11"/>
          <p:cNvSpPr/>
          <p:nvPr/>
        </p:nvSpPr>
        <p:spPr>
          <a:xfrm>
            <a:off x="3749040" y="2011680"/>
            <a:ext cx="2011680" cy="1737360"/>
          </a:xfrm>
          <a:prstGeom prst="roundRect">
            <a:avLst>
              <a:gd name="adj" fmla="val 3158"/>
            </a:avLst>
          </a:prstGeom>
          <a:solidFill>
            <a:srgbClr val="EEF6F4"/>
          </a:solidFill>
          <a:ln w="9525">
            <a:solidFill>
              <a:srgbClr val="2EC4B6"/>
            </a:solidFill>
            <a:prstDash val="solid"/>
          </a:ln>
        </p:spPr>
      </p:sp>
      <p:sp>
        <p:nvSpPr>
          <p:cNvPr id="14" name="Text 12"/>
          <p:cNvSpPr txBox="1"/>
          <p:nvPr/>
        </p:nvSpPr>
        <p:spPr>
          <a:xfrm>
            <a:off x="3840480" y="2084832"/>
            <a:ext cx="1828800" cy="27432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DuckDB, three tables</a:t>
            </a:r>
            <a:endParaRPr lang="en-US" sz="1050" dirty="0"/>
          </a:p>
        </p:txBody>
      </p:sp>
      <p:sp>
        <p:nvSpPr>
          <p:cNvPr id="15" name="Text 13"/>
          <p:cNvSpPr txBox="1"/>
          <p:nvPr/>
        </p:nvSpPr>
        <p:spPr>
          <a:xfrm>
            <a:off x="3840480" y="2395728"/>
            <a:ext cx="1828800" cy="1234440"/>
          </a:xfrm>
          <a:prstGeom prst="rect">
            <a:avLst/>
          </a:prstGeom>
          <a:noFill/>
          <a:ln/>
        </p:spPr>
        <p:txBody>
          <a:bodyPr wrap="square" lIns="0" tIns="0" rIns="0" bIns="0" rtlCol="0" anchor="ctr"/>
          <a:lstStyle/>
          <a:p>
            <a:pPr indent="0" marL="0">
              <a:buNone/>
            </a:pPr>
            <a:r>
              <a:rPr lang="en-US" sz="1000" dirty="0">
                <a:solidFill>
                  <a:srgbClr val="1B2A41"/>
                </a:solidFill>
                <a:latin typeface="Courier New" pitchFamily="34" charset="0"/>
                <a:ea typeface="Courier New" pitchFamily="34" charset="-122"/>
                <a:cs typeface="Courier New" pitchFamily="34" charset="-120"/>
              </a:rPr>
              <a:t>dataset manifest</a:t>
            </a:r>
            <a:endParaRPr lang="en-US" sz="1000" dirty="0"/>
          </a:p>
          <a:p>
            <a:pPr indent="0" marL="0">
              <a:buNone/>
            </a:pPr>
            <a:r>
              <a:rPr lang="en-US" sz="1000" dirty="0">
                <a:solidFill>
                  <a:srgbClr val="1B2A41"/>
                </a:solidFill>
                <a:latin typeface="Courier New" pitchFamily="34" charset="0"/>
                <a:ea typeface="Courier New" pitchFamily="34" charset="-122"/>
                <a:cs typeface="Courier New" pitchFamily="34" charset="-120"/>
              </a:rPr>
              <a:t>research runs</a:t>
            </a:r>
            <a:endParaRPr lang="en-US" sz="1000" dirty="0"/>
          </a:p>
          <a:p>
            <a:pPr indent="0" marL="0">
              <a:buNone/>
            </a:pPr>
            <a:r>
              <a:rPr lang="en-US" sz="1000" dirty="0">
                <a:solidFill>
                  <a:srgbClr val="1B2A41"/>
                </a:solidFill>
                <a:latin typeface="Courier New" pitchFamily="34" charset="0"/>
                <a:ea typeface="Courier New" pitchFamily="34" charset="-122"/>
                <a:cs typeface="Courier New" pitchFamily="34" charset="-120"/>
              </a:rPr>
              <a:t>audit_event</a:t>
            </a:r>
            <a:endParaRPr lang="en-US" sz="1000" dirty="0"/>
          </a:p>
        </p:txBody>
      </p:sp>
      <p:sp>
        <p:nvSpPr>
          <p:cNvPr id="16" name="Shape 14"/>
          <p:cNvSpPr/>
          <p:nvPr/>
        </p:nvSpPr>
        <p:spPr>
          <a:xfrm>
            <a:off x="5760720" y="2788920"/>
            <a:ext cx="594360" cy="9144"/>
          </a:xfrm>
          <a:prstGeom prst="line">
            <a:avLst/>
          </a:prstGeom>
          <a:noFill/>
          <a:ln w="25400">
            <a:solidFill>
              <a:srgbClr val="2EC4B6"/>
            </a:solidFill>
            <a:prstDash val="solid"/>
            <a:tailEnd type="triangle"/>
          </a:ln>
        </p:spPr>
      </p:sp>
      <p:sp>
        <p:nvSpPr>
          <p:cNvPr id="17" name="Shape 15"/>
          <p:cNvSpPr/>
          <p:nvPr/>
        </p:nvSpPr>
        <p:spPr>
          <a:xfrm>
            <a:off x="6355080" y="1188720"/>
            <a:ext cx="2331720" cy="3246120"/>
          </a:xfrm>
          <a:prstGeom prst="roundRect">
            <a:avLst>
              <a:gd name="adj" fmla="val 2353"/>
            </a:avLst>
          </a:prstGeom>
          <a:solidFill>
            <a:srgbClr val="F3F6FA"/>
          </a:solidFill>
          <a:ln w="9525">
            <a:solidFill>
              <a:srgbClr val="C9D3E0"/>
            </a:solidFill>
            <a:prstDash val="solid"/>
          </a:ln>
        </p:spPr>
      </p:sp>
      <p:sp>
        <p:nvSpPr>
          <p:cNvPr id="18" name="Text 16"/>
          <p:cNvSpPr txBox="1"/>
          <p:nvPr/>
        </p:nvSpPr>
        <p:spPr>
          <a:xfrm>
            <a:off x="6446520" y="1243584"/>
            <a:ext cx="21488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Every write is addressable</a:t>
            </a:r>
            <a:endParaRPr lang="en-US" sz="1100" dirty="0"/>
          </a:p>
        </p:txBody>
      </p:sp>
      <p:sp>
        <p:nvSpPr>
          <p:cNvPr id="19" name="Text 17"/>
          <p:cNvSpPr txBox="1"/>
          <p:nvPr/>
        </p:nvSpPr>
        <p:spPr>
          <a:xfrm>
            <a:off x="6446520" y="1499616"/>
            <a:ext cx="2148840" cy="288036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 `marketsage://runs/{run_id}` reads a saved run's exact input and output</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`audit_event`: request id, tool, status, duration, mode, warning count</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audit persistence is best-effort so a local DuckDB issue never masks API behaviour</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`/health` still reports DuckDB availability on its own</a:t>
            </a:r>
            <a:endParaRPr lang="en-US" sz="900" dirty="0"/>
          </a:p>
        </p:txBody>
      </p:sp>
      <p:sp>
        <p:nvSpPr>
          <p:cNvPr id="20" name="Text 18"/>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Seeded market data (5 illustrative tickers) is not scored by the eval harness; only the retrieval and sentiment fixtures are.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LIVE MODE</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Data modes and warnings that cannot be suppressed</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10</a:t>
            </a:r>
            <a:endParaRPr lang="en-US" sz="800" dirty="0"/>
          </a:p>
        </p:txBody>
      </p:sp>
      <p:sp>
        <p:nvSpPr>
          <p:cNvPr id="5" name="Shape 3"/>
          <p:cNvSpPr/>
          <p:nvPr/>
        </p:nvSpPr>
        <p:spPr>
          <a:xfrm>
            <a:off x="457200" y="1188720"/>
            <a:ext cx="2651760" cy="1554480"/>
          </a:xfrm>
          <a:prstGeom prst="roundRect">
            <a:avLst>
              <a:gd name="adj" fmla="val 3529"/>
            </a:avLst>
          </a:prstGeom>
          <a:solidFill>
            <a:srgbClr val="EEF6F4"/>
          </a:solidFill>
          <a:ln w="9525">
            <a:solidFill>
              <a:srgbClr val="2EC4B6"/>
            </a:solidFill>
            <a:prstDash val="solid"/>
          </a:ln>
        </p:spPr>
      </p:sp>
      <p:sp>
        <p:nvSpPr>
          <p:cNvPr id="6" name="Text 4"/>
          <p:cNvSpPr txBox="1"/>
          <p:nvPr/>
        </p:nvSpPr>
        <p:spPr>
          <a:xfrm>
            <a:off x="54864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seeded (default)</a:t>
            </a:r>
            <a:endParaRPr lang="en-US" sz="1100" dirty="0"/>
          </a:p>
        </p:txBody>
      </p:sp>
      <p:sp>
        <p:nvSpPr>
          <p:cNvPr id="7" name="Text 5"/>
          <p:cNvSpPr txBox="1"/>
          <p:nvPr/>
        </p:nvSpPr>
        <p:spPr>
          <a:xfrm>
            <a:off x="548640" y="1499616"/>
            <a:ext cx="2468880" cy="118872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Deterministic local data from data/seed/. No credentials, no network. What every screenshot in this deck shows.</a:t>
            </a:r>
            <a:endParaRPr lang="en-US" sz="900" dirty="0"/>
          </a:p>
        </p:txBody>
      </p:sp>
      <p:sp>
        <p:nvSpPr>
          <p:cNvPr id="8" name="Shape 6"/>
          <p:cNvSpPr/>
          <p:nvPr/>
        </p:nvSpPr>
        <p:spPr>
          <a:xfrm>
            <a:off x="3246120" y="1188720"/>
            <a:ext cx="2651760" cy="1554480"/>
          </a:xfrm>
          <a:prstGeom prst="roundRect">
            <a:avLst>
              <a:gd name="adj" fmla="val 3529"/>
            </a:avLst>
          </a:prstGeom>
          <a:solidFill>
            <a:srgbClr val="F3F6FA"/>
          </a:solidFill>
          <a:ln w="9525">
            <a:solidFill>
              <a:srgbClr val="C9D3E0"/>
            </a:solidFill>
            <a:prstDash val="solid"/>
          </a:ln>
        </p:spPr>
      </p:sp>
      <p:sp>
        <p:nvSpPr>
          <p:cNvPr id="9" name="Text 7"/>
          <p:cNvSpPr txBox="1"/>
          <p:nvPr/>
        </p:nvSpPr>
        <p:spPr>
          <a:xfrm>
            <a:off x="333756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hybrid</a:t>
            </a:r>
            <a:endParaRPr lang="en-US" sz="1100" dirty="0"/>
          </a:p>
        </p:txBody>
      </p:sp>
      <p:sp>
        <p:nvSpPr>
          <p:cNvPr id="10" name="Text 8"/>
          <p:cNvSpPr txBox="1"/>
          <p:nvPr/>
        </p:nvSpPr>
        <p:spPr>
          <a:xfrm>
            <a:off x="3337560" y="1499616"/>
            <a:ext cx="2468880" cy="118872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Tries OpenBB live data; on failure, falls back to seeded data with an explicit warning in the response payload — never a silent substitution.</a:t>
            </a:r>
            <a:endParaRPr lang="en-US" sz="900" dirty="0"/>
          </a:p>
        </p:txBody>
      </p:sp>
      <p:sp>
        <p:nvSpPr>
          <p:cNvPr id="11" name="Shape 9"/>
          <p:cNvSpPr/>
          <p:nvPr/>
        </p:nvSpPr>
        <p:spPr>
          <a:xfrm>
            <a:off x="6035040" y="1188720"/>
            <a:ext cx="2651760" cy="1554480"/>
          </a:xfrm>
          <a:prstGeom prst="roundRect">
            <a:avLst>
              <a:gd name="adj" fmla="val 3529"/>
            </a:avLst>
          </a:prstGeom>
          <a:solidFill>
            <a:srgbClr val="F3F6FA"/>
          </a:solidFill>
          <a:ln w="9525">
            <a:solidFill>
              <a:srgbClr val="C9D3E0"/>
            </a:solidFill>
            <a:prstDash val="solid"/>
          </a:ln>
        </p:spPr>
      </p:sp>
      <p:sp>
        <p:nvSpPr>
          <p:cNvPr id="12" name="Text 10"/>
          <p:cNvSpPr txBox="1"/>
          <p:nvPr/>
        </p:nvSpPr>
        <p:spPr>
          <a:xfrm>
            <a:off x="612648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live</a:t>
            </a:r>
            <a:endParaRPr lang="en-US" sz="1100" dirty="0"/>
          </a:p>
        </p:txBody>
      </p:sp>
      <p:sp>
        <p:nvSpPr>
          <p:cNvPr id="13" name="Text 11"/>
          <p:cNvSpPr txBox="1"/>
          <p:nvPr/>
        </p:nvSpPr>
        <p:spPr>
          <a:xfrm>
            <a:off x="6126480" y="1499616"/>
            <a:ext cx="2468880" cy="118872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Requires the optional OpenBB dependency and provider configuration; fails clearly, with a stated reason, when either is missing.</a:t>
            </a:r>
            <a:endParaRPr lang="en-US" sz="900" dirty="0"/>
          </a:p>
        </p:txBody>
      </p:sp>
      <p:sp>
        <p:nvSpPr>
          <p:cNvPr id="14" name="Shape 12"/>
          <p:cNvSpPr/>
          <p:nvPr/>
        </p:nvSpPr>
        <p:spPr>
          <a:xfrm>
            <a:off x="457200" y="2926080"/>
            <a:ext cx="4023360" cy="1508760"/>
          </a:xfrm>
          <a:prstGeom prst="roundRect">
            <a:avLst>
              <a:gd name="adj" fmla="val 3636"/>
            </a:avLst>
          </a:prstGeom>
          <a:solidFill>
            <a:srgbClr val="F3F6FA"/>
          </a:solidFill>
          <a:ln w="9525">
            <a:solidFill>
              <a:srgbClr val="C9D3E0"/>
            </a:solidFill>
            <a:prstDash val="solid"/>
          </a:ln>
        </p:spPr>
      </p:sp>
      <p:sp>
        <p:nvSpPr>
          <p:cNvPr id="15" name="Text 13"/>
          <p:cNvSpPr txBox="1"/>
          <p:nvPr/>
        </p:nvSpPr>
        <p:spPr>
          <a:xfrm>
            <a:off x="548640" y="298094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Model downloads: off by default</a:t>
            </a:r>
            <a:endParaRPr lang="en-US" sz="1100" dirty="0"/>
          </a:p>
        </p:txBody>
      </p:sp>
      <p:sp>
        <p:nvSpPr>
          <p:cNvPr id="16" name="Text 14"/>
          <p:cNvSpPr txBox="1"/>
          <p:nvPr/>
        </p:nvSpPr>
        <p:spPr>
          <a:xfrm>
            <a:off x="548640" y="3236976"/>
            <a:ext cx="3840480" cy="114300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Deterministic sentiment fallback runs with no download. `MARKETSAGE_ENABLE_MODEL_DOWNLOADS=true` enables FinBERT. The offline eval harness and CI never trigger a download; FinBERT accuracy is unmeasured here and marked pending.</a:t>
            </a:r>
            <a:endParaRPr lang="en-US" sz="900" dirty="0"/>
          </a:p>
        </p:txBody>
      </p:sp>
      <p:sp>
        <p:nvSpPr>
          <p:cNvPr id="17" name="Shape 15"/>
          <p:cNvSpPr/>
          <p:nvPr/>
        </p:nvSpPr>
        <p:spPr>
          <a:xfrm>
            <a:off x="4663440" y="2926080"/>
            <a:ext cx="4023360" cy="1508760"/>
          </a:xfrm>
          <a:prstGeom prst="roundRect">
            <a:avLst>
              <a:gd name="adj" fmla="val 3636"/>
            </a:avLst>
          </a:prstGeom>
          <a:solidFill>
            <a:srgbClr val="F3F6FA"/>
          </a:solidFill>
          <a:ln w="9525">
            <a:solidFill>
              <a:srgbClr val="C9D3E0"/>
            </a:solidFill>
            <a:prstDash val="solid"/>
          </a:ln>
        </p:spPr>
      </p:sp>
      <p:sp>
        <p:nvSpPr>
          <p:cNvPr id="18" name="Text 16"/>
          <p:cNvSpPr txBox="1"/>
          <p:nvPr/>
        </p:nvSpPr>
        <p:spPr>
          <a:xfrm>
            <a:off x="4754880" y="298094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Protected local mode</a:t>
            </a:r>
            <a:endParaRPr lang="en-US" sz="1100" dirty="0"/>
          </a:p>
        </p:txBody>
      </p:sp>
      <p:sp>
        <p:nvSpPr>
          <p:cNvPr id="19" name="Text 17"/>
          <p:cNvSpPr txBox="1"/>
          <p:nvPr/>
        </p:nvSpPr>
        <p:spPr>
          <a:xfrm>
            <a:off x="4754880" y="3236976"/>
            <a:ext cx="3840480" cy="114300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`MARKETSAGE_HTTP_TOKEN` requires bearer auth on every analytics HTTP request. The Go gateway and the Next.js proxy both forward the same token server-side; `/health` reports only `http_auth_required`, never the token.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DESIGN DECISIONS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Design choices and why</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11</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468880"/>
                <a:gridCol w="2651760"/>
                <a:gridCol w="310896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Decision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Alternatives considered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Why this 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Go gateway + Python core + TS clients (ADR-002)</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Python-only MCP server; wrap OpenBB's own MCP server directly; TypeScript-only server</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Go's stdio transport discipline plus Python's OpenBB/HF ecosystem fit; a Go spike in M0 proved the boundary before deeper build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DuckDB for local persistence (ADR-003)</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SQLite; PostgreSQL</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Strong local analytics/parquet fit, no database server for a reviewer to stand up; schemas kept portable enough for Postgres later</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AGPL-3.0-only licensing (ADR-004)</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MIT with OpenBB isolated behind an external service; delay the licensing decision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OpenBB states AGPLv3; this is the safe compatibility default while OpenBB is a direct dependency</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Seeded data first, live second (ADR-005)</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Live-first integration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 reviewer gets a working demo with no credentials or rate limits; live OpenBB mode layers on afterward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Lexical BM25 retrieval, no vector database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Embeddings with bge-small/MiniLM + a vector store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Deterministic in CI, ticker-scoped and explainable today; embedding retrieval is one function to add, and is listed pending</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Deterministic sentiment fallback as the default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FinBERT as the default classifier</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No model download needed for the demo or CI; the fallback's weak 8.1% commit rate is scored and shown, not hidden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PRODUCT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Major features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12</a:t>
            </a:r>
            <a:endParaRPr lang="en-US" sz="800" dirty="0"/>
          </a:p>
        </p:txBody>
      </p:sp>
      <p:sp>
        <p:nvSpPr>
          <p:cNvPr id="5" name="Shape 3"/>
          <p:cNvSpPr/>
          <p:nvPr/>
        </p:nvSpPr>
        <p:spPr>
          <a:xfrm>
            <a:off x="457200" y="1188720"/>
            <a:ext cx="2651760" cy="1280160"/>
          </a:xfrm>
          <a:prstGeom prst="roundRect">
            <a:avLst>
              <a:gd name="adj" fmla="val 4286"/>
            </a:avLst>
          </a:prstGeom>
          <a:solidFill>
            <a:srgbClr val="F3F6FA"/>
          </a:solidFill>
          <a:ln w="9525">
            <a:solidFill>
              <a:srgbClr val="C9D3E0"/>
            </a:solidFill>
            <a:prstDash val="solid"/>
          </a:ln>
        </p:spPr>
      </p:sp>
      <p:sp>
        <p:nvSpPr>
          <p:cNvPr id="6" name="Text 4"/>
          <p:cNvSpPr txBox="1"/>
          <p:nvPr/>
        </p:nvSpPr>
        <p:spPr>
          <a:xfrm>
            <a:off x="54864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Seven MCP tools, one resource</a:t>
            </a:r>
            <a:endParaRPr lang="en-US" sz="1100" dirty="0"/>
          </a:p>
        </p:txBody>
      </p:sp>
      <p:sp>
        <p:nvSpPr>
          <p:cNvPr id="7" name="Text 5"/>
          <p:cNvSpPr txBox="1"/>
          <p:nvPr/>
        </p:nvSpPr>
        <p:spPr>
          <a:xfrm>
            <a:off x="548640" y="1499616"/>
            <a:ext cx="2468880" cy="9144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health_check, dataset_status, market_snapshot, price_history, sentiment_score_text, evidence_search, research_brief; marketsage://runs/{run_id}</a:t>
            </a:r>
            <a:endParaRPr lang="en-US" sz="850" dirty="0"/>
          </a:p>
        </p:txBody>
      </p:sp>
      <p:sp>
        <p:nvSpPr>
          <p:cNvPr id="8" name="Shape 6"/>
          <p:cNvSpPr/>
          <p:nvPr/>
        </p:nvSpPr>
        <p:spPr>
          <a:xfrm>
            <a:off x="3246120" y="1188720"/>
            <a:ext cx="2651760" cy="1280160"/>
          </a:xfrm>
          <a:prstGeom prst="roundRect">
            <a:avLst>
              <a:gd name="adj" fmla="val 4286"/>
            </a:avLst>
          </a:prstGeom>
          <a:solidFill>
            <a:srgbClr val="F3F6FA"/>
          </a:solidFill>
          <a:ln w="9525">
            <a:solidFill>
              <a:srgbClr val="C9D3E0"/>
            </a:solidFill>
            <a:prstDash val="solid"/>
          </a:ln>
        </p:spPr>
      </p:sp>
      <p:sp>
        <p:nvSpPr>
          <p:cNvPr id="9" name="Text 7"/>
          <p:cNvSpPr txBox="1"/>
          <p:nvPr/>
        </p:nvSpPr>
        <p:spPr>
          <a:xfrm>
            <a:off x="333756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Four MCP prompts</a:t>
            </a:r>
            <a:endParaRPr lang="en-US" sz="1100" dirty="0"/>
          </a:p>
        </p:txBody>
      </p:sp>
      <p:sp>
        <p:nvSpPr>
          <p:cNvPr id="10" name="Text 8"/>
          <p:cNvSpPr txBox="1"/>
          <p:nvPr/>
        </p:nvSpPr>
        <p:spPr>
          <a:xfrm>
            <a:off x="3337560" y="1499616"/>
            <a:ext cx="2468880" cy="9144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equity_research, portfolio_risk_scan, earnings_call_questions, source_quality_review; read from marketsage-mcp --describe</a:t>
            </a:r>
            <a:endParaRPr lang="en-US" sz="850" dirty="0"/>
          </a:p>
        </p:txBody>
      </p:sp>
      <p:sp>
        <p:nvSpPr>
          <p:cNvPr id="11" name="Shape 9"/>
          <p:cNvSpPr/>
          <p:nvPr/>
        </p:nvSpPr>
        <p:spPr>
          <a:xfrm>
            <a:off x="6035040" y="1188720"/>
            <a:ext cx="2651760" cy="1280160"/>
          </a:xfrm>
          <a:prstGeom prst="roundRect">
            <a:avLst>
              <a:gd name="adj" fmla="val 4286"/>
            </a:avLst>
          </a:prstGeom>
          <a:solidFill>
            <a:srgbClr val="F3F6FA"/>
          </a:solidFill>
          <a:ln w="9525">
            <a:solidFill>
              <a:srgbClr val="C9D3E0"/>
            </a:solidFill>
            <a:prstDash val="solid"/>
          </a:ln>
        </p:spPr>
      </p:sp>
      <p:sp>
        <p:nvSpPr>
          <p:cNvPr id="12" name="Text 10"/>
          <p:cNvSpPr txBox="1"/>
          <p:nvPr/>
        </p:nvSpPr>
        <p:spPr>
          <a:xfrm>
            <a:off x="612648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Analyst workbench (Next.js)</a:t>
            </a:r>
            <a:endParaRPr lang="en-US" sz="1100" dirty="0"/>
          </a:p>
        </p:txBody>
      </p:sp>
      <p:sp>
        <p:nvSpPr>
          <p:cNvPr id="13" name="Text 11"/>
          <p:cNvSpPr txBox="1"/>
          <p:nvPr/>
        </p:nvSpPr>
        <p:spPr>
          <a:xfrm>
            <a:off x="6126480" y="1499616"/>
            <a:ext cx="2468880" cy="9144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ticker + evidence-query inputs, mode selector, snapshot, price chart, evidence list, brief, dataset/caveat log</a:t>
            </a:r>
            <a:endParaRPr lang="en-US" sz="850" dirty="0"/>
          </a:p>
        </p:txBody>
      </p:sp>
      <p:sp>
        <p:nvSpPr>
          <p:cNvPr id="14" name="Shape 12"/>
          <p:cNvSpPr/>
          <p:nvPr/>
        </p:nvSpPr>
        <p:spPr>
          <a:xfrm>
            <a:off x="457200" y="2606040"/>
            <a:ext cx="2651760" cy="1280160"/>
          </a:xfrm>
          <a:prstGeom prst="roundRect">
            <a:avLst>
              <a:gd name="adj" fmla="val 4286"/>
            </a:avLst>
          </a:prstGeom>
          <a:solidFill>
            <a:srgbClr val="F3F6FA"/>
          </a:solidFill>
          <a:ln w="9525">
            <a:solidFill>
              <a:srgbClr val="C9D3E0"/>
            </a:solidFill>
            <a:prstDash val="solid"/>
          </a:ln>
        </p:spPr>
      </p:sp>
      <p:sp>
        <p:nvSpPr>
          <p:cNvPr id="15" name="Text 13"/>
          <p:cNvSpPr txBox="1"/>
          <p:nvPr/>
        </p:nvSpPr>
        <p:spPr>
          <a:xfrm>
            <a:off x="548640" y="266090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Offline evaluation harness</a:t>
            </a:r>
            <a:endParaRPr lang="en-US" sz="1100" dirty="0"/>
          </a:p>
        </p:txBody>
      </p:sp>
      <p:sp>
        <p:nvSpPr>
          <p:cNvPr id="16" name="Text 14"/>
          <p:cNvSpPr txBox="1"/>
          <p:nvPr/>
        </p:nvSpPr>
        <p:spPr>
          <a:xfrm>
            <a:off x="548640" y="2916936"/>
            <a:ext cx="2468880" cy="9144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BM25 recall, sentiment-fallback scoring, brief grounding, contract conformance, 9 fault injections, audit completeness, latency budget</a:t>
            </a:r>
            <a:endParaRPr lang="en-US" sz="850" dirty="0"/>
          </a:p>
        </p:txBody>
      </p:sp>
      <p:sp>
        <p:nvSpPr>
          <p:cNvPr id="17" name="Shape 15"/>
          <p:cNvSpPr/>
          <p:nvPr/>
        </p:nvSpPr>
        <p:spPr>
          <a:xfrm>
            <a:off x="3246120" y="2606040"/>
            <a:ext cx="2651760" cy="1280160"/>
          </a:xfrm>
          <a:prstGeom prst="roundRect">
            <a:avLst>
              <a:gd name="adj" fmla="val 4286"/>
            </a:avLst>
          </a:prstGeom>
          <a:solidFill>
            <a:srgbClr val="F3F6FA"/>
          </a:solidFill>
          <a:ln w="9525">
            <a:solidFill>
              <a:srgbClr val="C9D3E0"/>
            </a:solidFill>
            <a:prstDash val="solid"/>
          </a:ln>
        </p:spPr>
      </p:sp>
      <p:sp>
        <p:nvSpPr>
          <p:cNvPr id="18" name="Text 16"/>
          <p:cNvSpPr txBox="1"/>
          <p:nvPr/>
        </p:nvSpPr>
        <p:spPr>
          <a:xfrm>
            <a:off x="3337560" y="266090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DuckDB audit trail</a:t>
            </a:r>
            <a:endParaRPr lang="en-US" sz="1100" dirty="0"/>
          </a:p>
        </p:txBody>
      </p:sp>
      <p:sp>
        <p:nvSpPr>
          <p:cNvPr id="19" name="Text 17"/>
          <p:cNvSpPr txBox="1"/>
          <p:nvPr/>
        </p:nvSpPr>
        <p:spPr>
          <a:xfrm>
            <a:off x="3337560" y="2916936"/>
            <a:ext cx="2468880" cy="9144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request id, tool, status, duration, mode and warning count on every analytics call</a:t>
            </a:r>
            <a:endParaRPr lang="en-US" sz="850" dirty="0"/>
          </a:p>
        </p:txBody>
      </p:sp>
      <p:sp>
        <p:nvSpPr>
          <p:cNvPr id="20" name="Shape 18"/>
          <p:cNvSpPr/>
          <p:nvPr/>
        </p:nvSpPr>
        <p:spPr>
          <a:xfrm>
            <a:off x="6035040" y="2606040"/>
            <a:ext cx="2651760" cy="1280160"/>
          </a:xfrm>
          <a:prstGeom prst="roundRect">
            <a:avLst>
              <a:gd name="adj" fmla="val 4286"/>
            </a:avLst>
          </a:prstGeom>
          <a:solidFill>
            <a:srgbClr val="F3F6FA"/>
          </a:solidFill>
          <a:ln w="9525">
            <a:solidFill>
              <a:srgbClr val="C9D3E0"/>
            </a:solidFill>
            <a:prstDash val="solid"/>
          </a:ln>
        </p:spPr>
      </p:sp>
      <p:sp>
        <p:nvSpPr>
          <p:cNvPr id="21" name="Text 19"/>
          <p:cNvSpPr txBox="1"/>
          <p:nvPr/>
        </p:nvSpPr>
        <p:spPr>
          <a:xfrm>
            <a:off x="6126480" y="266090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Dependency and vulnerability sweeps</a:t>
            </a:r>
            <a:endParaRPr lang="en-US" sz="1100" dirty="0"/>
          </a:p>
        </p:txBody>
      </p:sp>
      <p:sp>
        <p:nvSpPr>
          <p:cNvPr id="22" name="Text 20"/>
          <p:cNvSpPr txBox="1"/>
          <p:nvPr/>
        </p:nvSpPr>
        <p:spPr>
          <a:xfrm>
            <a:off x="6126480" y="2916936"/>
            <a:ext cx="2468880" cy="9144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npm audit, uv pip check, govulncheck and a secret-text scan, in `npm run audit:deps`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SEEDED MODE, NO KEYS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analyst workbench: snapshot, trend and evidence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13</a:t>
            </a:r>
            <a:endParaRPr lang="en-US" sz="800" dirty="0"/>
          </a:p>
        </p:txBody>
      </p:sp>
      <p:pic>
        <p:nvPicPr>
          <p:cNvPr id="5" name="Image 0" descr="C:/Code-Central/MarketSage/docs/assets/10-workbench-snapshot.png">    </p:cNvPr>
          <p:cNvPicPr>
            <a:picLocks noChangeAspect="1"/>
          </p:cNvPicPr>
          <p:nvPr/>
        </p:nvPicPr>
        <p:blipFill>
          <a:blip r:embed="rId1"/>
          <a:stretch>
            <a:fillRect/>
          </a:stretch>
        </p:blipFill>
        <p:spPr>
          <a:xfrm>
            <a:off x="2081800" y="1143000"/>
            <a:ext cx="4980400" cy="3337560"/>
          </a:xfrm>
          <a:prstGeom prst="rect">
            <a:avLst/>
          </a:prstGeom>
        </p:spPr>
      </p:pic>
      <p:sp>
        <p:nvSpPr>
          <p:cNvPr id="6" name="Text 3"/>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Seeded mode, no credentials. MSFT snapshot with a one-quarter close series and two FinanceBench filing excerpts scored by BM25, each captioned with its dataset and licence.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SEEDED MODE, SAVED RUN</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saved run: every section keeps its references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14</a:t>
            </a:r>
            <a:endParaRPr lang="en-US" sz="800" dirty="0"/>
          </a:p>
        </p:txBody>
      </p:sp>
      <p:pic>
        <p:nvPicPr>
          <p:cNvPr id="5" name="Image 0" descr="C:/Code-Central/MarketSage/docs/assets/11-workbench-brief.png">    </p:cNvPr>
          <p:cNvPicPr>
            <a:picLocks noChangeAspect="1"/>
          </p:cNvPicPr>
          <p:nvPr/>
        </p:nvPicPr>
        <p:blipFill>
          <a:blip r:embed="rId1"/>
          <a:stretch>
            <a:fillRect/>
          </a:stretch>
        </p:blipFill>
        <p:spPr>
          <a:xfrm>
            <a:off x="2216075" y="1143000"/>
            <a:ext cx="4711849" cy="3337560"/>
          </a:xfrm>
          <a:prstGeom prst="rect">
            <a:avLst/>
          </a:prstGeom>
        </p:spPr>
      </p:pic>
      <p:sp>
        <p:nvSpPr>
          <p:cNvPr id="6" name="Text 3"/>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The same run, readable back through marketsage://runs/{run_id}: a run id badge, referenced sections, and the dataset/caveat log.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MCP CLI (NPM RUN DEMO:MCP)</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Driving the gateway: tool discovery and a live call</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15</a:t>
            </a:r>
            <a:endParaRPr lang="en-US" sz="800" dirty="0"/>
          </a:p>
        </p:txBody>
      </p:sp>
      <p:pic>
        <p:nvPicPr>
          <p:cNvPr id="5" name="Image 0" descr="C:/Code-Central/MarketSage/docs/assets/12-mcp-tool-call.png">    </p:cNvPr>
          <p:cNvPicPr>
            <a:picLocks noChangeAspect="1"/>
          </p:cNvPicPr>
          <p:nvPr/>
        </p:nvPicPr>
        <p:blipFill>
          <a:blip r:embed="rId1"/>
          <a:stretch>
            <a:fillRect/>
          </a:stretch>
        </p:blipFill>
        <p:spPr>
          <a:xfrm>
            <a:off x="2302243" y="1051560"/>
            <a:ext cx="4539515" cy="3520440"/>
          </a:xfrm>
          <a:prstGeom prst="rect">
            <a:avLst/>
          </a:prstGeom>
        </p:spPr>
      </p:pic>
      <p:sp>
        <p:nvSpPr>
          <p:cNvPr id="6" name="Text 3"/>
          <p:cNvSpPr txBox="1"/>
          <p:nvPr/>
        </p:nvSpPr>
        <p:spPr>
          <a:xfrm>
            <a:off x="457200" y="4599432"/>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The TypeScript MCP client discovers all seven tools, calls market_snapshot and evidence_search, and reads the saved run back as a resource — exactly what an LLM host would see.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DUCKDB AUDIT_EVENT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Every call leaves a row</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16</a:t>
            </a:r>
            <a:endParaRPr lang="en-US" sz="800" dirty="0"/>
          </a:p>
        </p:txBody>
      </p:sp>
      <p:pic>
        <p:nvPicPr>
          <p:cNvPr id="5" name="Image 0" descr="C:/Code-Central/MarketSage/docs/assets/13-audit-trail.png">    </p:cNvPr>
          <p:cNvPicPr>
            <a:picLocks noChangeAspect="1"/>
          </p:cNvPicPr>
          <p:nvPr/>
        </p:nvPicPr>
        <p:blipFill>
          <a:blip r:embed="rId1"/>
          <a:stretch>
            <a:fillRect/>
          </a:stretch>
        </p:blipFill>
        <p:spPr>
          <a:xfrm>
            <a:off x="1053548" y="1234440"/>
            <a:ext cx="7036904" cy="2743200"/>
          </a:xfrm>
          <a:prstGeom prst="rect">
            <a:avLst/>
          </a:prstGeom>
        </p:spPr>
      </p:pic>
      <p:sp>
        <p:nvSpPr>
          <p:cNvPr id="6" name="Shape 3"/>
          <p:cNvSpPr/>
          <p:nvPr/>
        </p:nvSpPr>
        <p:spPr>
          <a:xfrm>
            <a:off x="457200" y="4069080"/>
            <a:ext cx="8229600" cy="685800"/>
          </a:xfrm>
          <a:prstGeom prst="roundRect">
            <a:avLst>
              <a:gd name="adj" fmla="val 8000"/>
            </a:avLst>
          </a:prstGeom>
          <a:solidFill>
            <a:srgbClr val="F3F6FA"/>
          </a:solidFill>
          <a:ln w="9525">
            <a:solidFill>
              <a:srgbClr val="C9D3E0"/>
            </a:solidFill>
            <a:prstDash val="solid"/>
          </a:ln>
        </p:spPr>
      </p:sp>
      <p:sp>
        <p:nvSpPr>
          <p:cNvPr id="7" name="Text 4"/>
          <p:cNvSpPr txBox="1"/>
          <p:nvPr/>
        </p:nvSpPr>
        <p:spPr>
          <a:xfrm>
            <a:off x="548640" y="4123944"/>
            <a:ext cx="804672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What you are looking at</a:t>
            </a:r>
            <a:endParaRPr lang="en-US" sz="1100" dirty="0"/>
          </a:p>
        </p:txBody>
      </p:sp>
      <p:sp>
        <p:nvSpPr>
          <p:cNvPr id="8" name="Text 5"/>
          <p:cNvSpPr txBox="1"/>
          <p:nvPr/>
        </p:nvSpPr>
        <p:spPr>
          <a:xfrm>
            <a:off x="548640" y="4379976"/>
            <a:ext cx="8046720" cy="3200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The eight most recent audit_event rows from this session's own demo run and workbench call: request id, tool/source, status, duration, mode and warning count — 0 orphans.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CONTROLS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Security and compliance controls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17</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234440"/>
                <a:gridCol w="1645920"/>
                <a:gridCol w="3520440"/>
                <a:gridCol w="182880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Boundary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Threat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Control in the code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Evidence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B1 client input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malformed ticker, oversized text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Pydantic validators: ticker matches ^[A-Z][A-Z0-9.-]{0,9}$; sentiment text bounded 1-4000 chars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models.py TickerRequest/SentimentRequest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B2 analytics HTTP API</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unauthenticated access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optional bearer auth (MARKETSAGE_HTTP_TOKEN); Go gateway and Next.js proxy forward it server-side; never returned by /health</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security-and-ops.md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B3 MCP stdio transport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stdout corruption breaks JSON-RPC</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slog.NewJSONHandler(os.Stderr, ...) only; StdioTransport from the MCP SDK</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main.go; T-011 acceptance criteria</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B4 analytics responses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unaudited or silent failures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DuckDB audit_event row per call; best-effort so a local DB issue never masks API behaviour; known failures write status=error rows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storage.py, repo.py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B5 dependencies and secrets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known CVEs, leaked keys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npm audit (0 high+), uv pip check, govulncheck, and a secret-text regex scan, run in npm run audit:deps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ship-report.md, 2026-09-07</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B6 data and model licensing</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unlicensed reuse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source-notes.md review; sp500-earnings-transcripts blocked pending license, sec-bert-base excluded (CC-BY-SA-4.0)</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docs/research/source-notes.md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6" name="Text 3"/>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Residual risk, stated plainly: the local bearer token is a demo/prototype control, not production identity management, network policy or managed secrets (docs/security-and-ops.md).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PROCESS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How it was built: a gated lifecycle, one validation gate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18</a:t>
            </a:r>
            <a:endParaRPr lang="en-US" sz="800" dirty="0"/>
          </a:p>
        </p:txBody>
      </p:sp>
      <p:sp>
        <p:nvSpPr>
          <p:cNvPr id="5" name="Shape 3"/>
          <p:cNvSpPr/>
          <p:nvPr/>
        </p:nvSpPr>
        <p:spPr>
          <a:xfrm>
            <a:off x="457200" y="1234440"/>
            <a:ext cx="941832" cy="566928"/>
          </a:xfrm>
          <a:prstGeom prst="roundRect">
            <a:avLst>
              <a:gd name="adj" fmla="val 8065"/>
            </a:avLst>
          </a:prstGeom>
          <a:solidFill>
            <a:srgbClr val="1C2B4F"/>
          </a:solidFill>
          <a:ln w="12700">
            <a:solidFill>
              <a:srgbClr val="1C2B4F"/>
            </a:solidFill>
            <a:prstDash val="solid"/>
          </a:ln>
        </p:spPr>
      </p:sp>
      <p:sp>
        <p:nvSpPr>
          <p:cNvPr id="6" name="Text 4"/>
          <p:cNvSpPr txBox="1"/>
          <p:nvPr/>
        </p:nvSpPr>
        <p:spPr>
          <a:xfrm>
            <a:off x="493776" y="1252728"/>
            <a:ext cx="86868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Requirements</a:t>
            </a:r>
            <a:endParaRPr lang="en-US" sz="750" dirty="0"/>
          </a:p>
        </p:txBody>
      </p:sp>
      <p:sp>
        <p:nvSpPr>
          <p:cNvPr id="7" name="Shape 5"/>
          <p:cNvSpPr/>
          <p:nvPr/>
        </p:nvSpPr>
        <p:spPr>
          <a:xfrm>
            <a:off x="1472184" y="1234440"/>
            <a:ext cx="941832" cy="566928"/>
          </a:xfrm>
          <a:prstGeom prst="roundRect">
            <a:avLst>
              <a:gd name="adj" fmla="val 8065"/>
            </a:avLst>
          </a:prstGeom>
          <a:solidFill>
            <a:srgbClr val="1C2B4F"/>
          </a:solidFill>
          <a:ln w="12700">
            <a:solidFill>
              <a:srgbClr val="1C2B4F"/>
            </a:solidFill>
            <a:prstDash val="solid"/>
          </a:ln>
        </p:spPr>
      </p:sp>
      <p:sp>
        <p:nvSpPr>
          <p:cNvPr id="8" name="Text 6"/>
          <p:cNvSpPr txBox="1"/>
          <p:nvPr/>
        </p:nvSpPr>
        <p:spPr>
          <a:xfrm>
            <a:off x="1508760" y="1252728"/>
            <a:ext cx="86868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HLD</a:t>
            </a:r>
            <a:endParaRPr lang="en-US" sz="750" dirty="0"/>
          </a:p>
        </p:txBody>
      </p:sp>
      <p:sp>
        <p:nvSpPr>
          <p:cNvPr id="9" name="Shape 7"/>
          <p:cNvSpPr/>
          <p:nvPr/>
        </p:nvSpPr>
        <p:spPr>
          <a:xfrm>
            <a:off x="2487168" y="1234440"/>
            <a:ext cx="941832" cy="566928"/>
          </a:xfrm>
          <a:prstGeom prst="roundRect">
            <a:avLst>
              <a:gd name="adj" fmla="val 8065"/>
            </a:avLst>
          </a:prstGeom>
          <a:solidFill>
            <a:srgbClr val="1C2B4F"/>
          </a:solidFill>
          <a:ln w="12700">
            <a:solidFill>
              <a:srgbClr val="1C2B4F"/>
            </a:solidFill>
            <a:prstDash val="solid"/>
          </a:ln>
        </p:spPr>
      </p:sp>
      <p:sp>
        <p:nvSpPr>
          <p:cNvPr id="10" name="Text 8"/>
          <p:cNvSpPr txBox="1"/>
          <p:nvPr/>
        </p:nvSpPr>
        <p:spPr>
          <a:xfrm>
            <a:off x="2523744" y="1252728"/>
            <a:ext cx="86868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LLD</a:t>
            </a:r>
            <a:endParaRPr lang="en-US" sz="750" dirty="0"/>
          </a:p>
        </p:txBody>
      </p:sp>
      <p:sp>
        <p:nvSpPr>
          <p:cNvPr id="11" name="Shape 9"/>
          <p:cNvSpPr/>
          <p:nvPr/>
        </p:nvSpPr>
        <p:spPr>
          <a:xfrm>
            <a:off x="3502152" y="1234440"/>
            <a:ext cx="941832" cy="566928"/>
          </a:xfrm>
          <a:prstGeom prst="roundRect">
            <a:avLst>
              <a:gd name="adj" fmla="val 8065"/>
            </a:avLst>
          </a:prstGeom>
          <a:solidFill>
            <a:srgbClr val="1C2B4F"/>
          </a:solidFill>
          <a:ln w="12700">
            <a:solidFill>
              <a:srgbClr val="1C2B4F"/>
            </a:solidFill>
            <a:prstDash val="solid"/>
          </a:ln>
        </p:spPr>
      </p:sp>
      <p:sp>
        <p:nvSpPr>
          <p:cNvPr id="12" name="Text 10"/>
          <p:cNvSpPr txBox="1"/>
          <p:nvPr/>
        </p:nvSpPr>
        <p:spPr>
          <a:xfrm>
            <a:off x="3538728" y="1252728"/>
            <a:ext cx="86868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Execution plan</a:t>
            </a:r>
            <a:endParaRPr lang="en-US" sz="750" dirty="0"/>
          </a:p>
        </p:txBody>
      </p:sp>
      <p:sp>
        <p:nvSpPr>
          <p:cNvPr id="13" name="Shape 11"/>
          <p:cNvSpPr/>
          <p:nvPr/>
        </p:nvSpPr>
        <p:spPr>
          <a:xfrm>
            <a:off x="4517136" y="1234440"/>
            <a:ext cx="941832" cy="566928"/>
          </a:xfrm>
          <a:prstGeom prst="roundRect">
            <a:avLst>
              <a:gd name="adj" fmla="val 8065"/>
            </a:avLst>
          </a:prstGeom>
          <a:solidFill>
            <a:srgbClr val="1C2B4F"/>
          </a:solidFill>
          <a:ln w="12700">
            <a:solidFill>
              <a:srgbClr val="1C2B4F"/>
            </a:solidFill>
            <a:prstDash val="solid"/>
          </a:ln>
        </p:spPr>
      </p:sp>
      <p:sp>
        <p:nvSpPr>
          <p:cNvPr id="14" name="Text 12"/>
          <p:cNvSpPr txBox="1"/>
          <p:nvPr/>
        </p:nvSpPr>
        <p:spPr>
          <a:xfrm>
            <a:off x="4553712" y="1252728"/>
            <a:ext cx="86868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Decisions (5 ADRs)</a:t>
            </a:r>
            <a:endParaRPr lang="en-US" sz="750" dirty="0"/>
          </a:p>
        </p:txBody>
      </p:sp>
      <p:sp>
        <p:nvSpPr>
          <p:cNvPr id="15" name="Shape 13"/>
          <p:cNvSpPr/>
          <p:nvPr/>
        </p:nvSpPr>
        <p:spPr>
          <a:xfrm>
            <a:off x="5532120" y="1234440"/>
            <a:ext cx="941832" cy="566928"/>
          </a:xfrm>
          <a:prstGeom prst="roundRect">
            <a:avLst>
              <a:gd name="adj" fmla="val 8065"/>
            </a:avLst>
          </a:prstGeom>
          <a:solidFill>
            <a:srgbClr val="1E5C57"/>
          </a:solidFill>
          <a:ln w="12700">
            <a:solidFill>
              <a:srgbClr val="1E5C57"/>
            </a:solidFill>
            <a:prstDash val="solid"/>
          </a:ln>
        </p:spPr>
      </p:sp>
      <p:sp>
        <p:nvSpPr>
          <p:cNvPr id="16" name="Text 14"/>
          <p:cNvSpPr txBox="1"/>
          <p:nvPr/>
        </p:nvSpPr>
        <p:spPr>
          <a:xfrm>
            <a:off x="5568696" y="1252728"/>
            <a:ext cx="86868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13 task packs</a:t>
            </a:r>
            <a:endParaRPr lang="en-US" sz="750" dirty="0"/>
          </a:p>
        </p:txBody>
      </p:sp>
      <p:sp>
        <p:nvSpPr>
          <p:cNvPr id="17" name="Shape 15"/>
          <p:cNvSpPr/>
          <p:nvPr/>
        </p:nvSpPr>
        <p:spPr>
          <a:xfrm>
            <a:off x="6547104" y="1234440"/>
            <a:ext cx="941832" cy="566928"/>
          </a:xfrm>
          <a:prstGeom prst="roundRect">
            <a:avLst>
              <a:gd name="adj" fmla="val 8065"/>
            </a:avLst>
          </a:prstGeom>
          <a:solidFill>
            <a:srgbClr val="1E5C57"/>
          </a:solidFill>
          <a:ln w="12700">
            <a:solidFill>
              <a:srgbClr val="1E5C57"/>
            </a:solidFill>
            <a:prstDash val="solid"/>
          </a:ln>
        </p:spPr>
      </p:sp>
      <p:sp>
        <p:nvSpPr>
          <p:cNvPr id="18" name="Text 16"/>
          <p:cNvSpPr txBox="1"/>
          <p:nvPr/>
        </p:nvSpPr>
        <p:spPr>
          <a:xfrm>
            <a:off x="6583680" y="1252728"/>
            <a:ext cx="86868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Build (M0-M5)</a:t>
            </a:r>
            <a:endParaRPr lang="en-US" sz="750" dirty="0"/>
          </a:p>
        </p:txBody>
      </p:sp>
      <p:sp>
        <p:nvSpPr>
          <p:cNvPr id="19" name="Shape 17"/>
          <p:cNvSpPr/>
          <p:nvPr/>
        </p:nvSpPr>
        <p:spPr>
          <a:xfrm>
            <a:off x="7562088" y="1234440"/>
            <a:ext cx="941832" cy="566928"/>
          </a:xfrm>
          <a:prstGeom prst="roundRect">
            <a:avLst>
              <a:gd name="adj" fmla="val 8065"/>
            </a:avLst>
          </a:prstGeom>
          <a:solidFill>
            <a:srgbClr val="1E5C57"/>
          </a:solidFill>
          <a:ln w="12700">
            <a:solidFill>
              <a:srgbClr val="1E5C57"/>
            </a:solidFill>
            <a:prstDash val="solid"/>
          </a:ln>
        </p:spPr>
      </p:sp>
      <p:sp>
        <p:nvSpPr>
          <p:cNvPr id="20" name="Text 18"/>
          <p:cNvSpPr txBox="1"/>
          <p:nvPr/>
        </p:nvSpPr>
        <p:spPr>
          <a:xfrm>
            <a:off x="7598664" y="1252728"/>
            <a:ext cx="868680" cy="53035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Ship report</a:t>
            </a:r>
            <a:endParaRPr lang="en-US" sz="750" dirty="0"/>
          </a:p>
        </p:txBody>
      </p:sp>
      <p:sp>
        <p:nvSpPr>
          <p:cNvPr id="21" name="Shape 19"/>
          <p:cNvSpPr/>
          <p:nvPr/>
        </p:nvSpPr>
        <p:spPr>
          <a:xfrm>
            <a:off x="457200" y="2011680"/>
            <a:ext cx="1965960" cy="1143000"/>
          </a:xfrm>
          <a:prstGeom prst="roundRect">
            <a:avLst>
              <a:gd name="adj" fmla="val 4800"/>
            </a:avLst>
          </a:prstGeom>
          <a:solidFill>
            <a:srgbClr val="F3F6FA"/>
          </a:solidFill>
          <a:ln w="9525">
            <a:solidFill>
              <a:srgbClr val="C9D3E0"/>
            </a:solidFill>
            <a:prstDash val="solid"/>
          </a:ln>
        </p:spPr>
      </p:sp>
      <p:sp>
        <p:nvSpPr>
          <p:cNvPr id="22" name="Text 20"/>
          <p:cNvSpPr txBox="1"/>
          <p:nvPr/>
        </p:nvSpPr>
        <p:spPr>
          <a:xfrm>
            <a:off x="56692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13</a:t>
            </a:r>
            <a:endParaRPr lang="en-US" sz="2800" dirty="0"/>
          </a:p>
        </p:txBody>
      </p:sp>
      <p:sp>
        <p:nvSpPr>
          <p:cNvPr id="23" name="Text 21"/>
          <p:cNvSpPr txBox="1"/>
          <p:nvPr/>
        </p:nvSpPr>
        <p:spPr>
          <a:xfrm>
            <a:off x="56692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task packs, T-001 through T-013, each with acceptance criteria, milestone and risk tier</a:t>
            </a:r>
            <a:endParaRPr lang="en-US" sz="850" dirty="0"/>
          </a:p>
        </p:txBody>
      </p:sp>
      <p:sp>
        <p:nvSpPr>
          <p:cNvPr id="24" name="Shape 22"/>
          <p:cNvSpPr/>
          <p:nvPr/>
        </p:nvSpPr>
        <p:spPr>
          <a:xfrm>
            <a:off x="2560320" y="2011680"/>
            <a:ext cx="1965960" cy="1143000"/>
          </a:xfrm>
          <a:prstGeom prst="roundRect">
            <a:avLst>
              <a:gd name="adj" fmla="val 4800"/>
            </a:avLst>
          </a:prstGeom>
          <a:solidFill>
            <a:srgbClr val="F3F6FA"/>
          </a:solidFill>
          <a:ln w="9525">
            <a:solidFill>
              <a:srgbClr val="C9D3E0"/>
            </a:solidFill>
            <a:prstDash val="solid"/>
          </a:ln>
        </p:spPr>
      </p:sp>
      <p:sp>
        <p:nvSpPr>
          <p:cNvPr id="25" name="Text 23"/>
          <p:cNvSpPr txBox="1"/>
          <p:nvPr/>
        </p:nvSpPr>
        <p:spPr>
          <a:xfrm>
            <a:off x="267004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5</a:t>
            </a:r>
            <a:endParaRPr lang="en-US" sz="2800" dirty="0"/>
          </a:p>
        </p:txBody>
      </p:sp>
      <p:sp>
        <p:nvSpPr>
          <p:cNvPr id="26" name="Text 24"/>
          <p:cNvSpPr txBox="1"/>
          <p:nvPr/>
        </p:nvSpPr>
        <p:spPr>
          <a:xfrm>
            <a:off x="267004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architecture decision records, each with context, options considered and consequences</a:t>
            </a:r>
            <a:endParaRPr lang="en-US" sz="850" dirty="0"/>
          </a:p>
        </p:txBody>
      </p:sp>
      <p:sp>
        <p:nvSpPr>
          <p:cNvPr id="27" name="Shape 25"/>
          <p:cNvSpPr/>
          <p:nvPr/>
        </p:nvSpPr>
        <p:spPr>
          <a:xfrm>
            <a:off x="4663440" y="2011680"/>
            <a:ext cx="1965960" cy="1143000"/>
          </a:xfrm>
          <a:prstGeom prst="roundRect">
            <a:avLst>
              <a:gd name="adj" fmla="val 4800"/>
            </a:avLst>
          </a:prstGeom>
          <a:solidFill>
            <a:srgbClr val="F3F6FA"/>
          </a:solidFill>
          <a:ln w="9525">
            <a:solidFill>
              <a:srgbClr val="C9D3E0"/>
            </a:solidFill>
            <a:prstDash val="solid"/>
          </a:ln>
        </p:spPr>
      </p:sp>
      <p:sp>
        <p:nvSpPr>
          <p:cNvPr id="28" name="Text 26"/>
          <p:cNvSpPr txBox="1"/>
          <p:nvPr/>
        </p:nvSpPr>
        <p:spPr>
          <a:xfrm>
            <a:off x="477316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45</a:t>
            </a:r>
            <a:endParaRPr lang="en-US" sz="2800" dirty="0"/>
          </a:p>
        </p:txBody>
      </p:sp>
      <p:sp>
        <p:nvSpPr>
          <p:cNvPr id="29" name="Text 27"/>
          <p:cNvSpPr txBox="1"/>
          <p:nvPr/>
        </p:nvSpPr>
        <p:spPr>
          <a:xfrm>
            <a:off x="477316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Python tests passed (pytest), including nine named fault injections and the contract checks</a:t>
            </a:r>
            <a:endParaRPr lang="en-US" sz="850" dirty="0"/>
          </a:p>
        </p:txBody>
      </p:sp>
      <p:sp>
        <p:nvSpPr>
          <p:cNvPr id="30" name="Shape 28"/>
          <p:cNvSpPr/>
          <p:nvPr/>
        </p:nvSpPr>
        <p:spPr>
          <a:xfrm>
            <a:off x="6766560" y="2011680"/>
            <a:ext cx="1965960" cy="1143000"/>
          </a:xfrm>
          <a:prstGeom prst="roundRect">
            <a:avLst>
              <a:gd name="adj" fmla="val 4800"/>
            </a:avLst>
          </a:prstGeom>
          <a:solidFill>
            <a:srgbClr val="F3F6FA"/>
          </a:solidFill>
          <a:ln w="9525">
            <a:solidFill>
              <a:srgbClr val="C9D3E0"/>
            </a:solidFill>
            <a:prstDash val="solid"/>
          </a:ln>
        </p:spPr>
      </p:sp>
      <p:sp>
        <p:nvSpPr>
          <p:cNvPr id="31" name="Text 29"/>
          <p:cNvSpPr txBox="1"/>
          <p:nvPr/>
        </p:nvSpPr>
        <p:spPr>
          <a:xfrm>
            <a:off x="687628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11</a:t>
            </a:r>
            <a:endParaRPr lang="en-US" sz="2800" dirty="0"/>
          </a:p>
        </p:txBody>
      </p:sp>
      <p:sp>
        <p:nvSpPr>
          <p:cNvPr id="32" name="Text 30"/>
          <p:cNvSpPr txBox="1"/>
          <p:nvPr/>
        </p:nvSpPr>
        <p:spPr>
          <a:xfrm>
            <a:off x="687628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Go tests passed, including strict decoding of the exported contract fixtures</a:t>
            </a:r>
            <a:endParaRPr lang="en-US" sz="850" dirty="0"/>
          </a:p>
        </p:txBody>
      </p:sp>
      <p:sp>
        <p:nvSpPr>
          <p:cNvPr id="33" name="Shape 31"/>
          <p:cNvSpPr/>
          <p:nvPr/>
        </p:nvSpPr>
        <p:spPr>
          <a:xfrm>
            <a:off x="457200" y="3337560"/>
            <a:ext cx="4023360" cy="1143000"/>
          </a:xfrm>
          <a:prstGeom prst="roundRect">
            <a:avLst>
              <a:gd name="adj" fmla="val 4800"/>
            </a:avLst>
          </a:prstGeom>
          <a:solidFill>
            <a:srgbClr val="F3F6FA"/>
          </a:solidFill>
          <a:ln w="9525">
            <a:solidFill>
              <a:srgbClr val="C9D3E0"/>
            </a:solidFill>
            <a:prstDash val="solid"/>
          </a:ln>
        </p:spPr>
      </p:sp>
      <p:sp>
        <p:nvSpPr>
          <p:cNvPr id="34" name="Text 32"/>
          <p:cNvSpPr txBox="1"/>
          <p:nvPr/>
        </p:nvSpPr>
        <p:spPr>
          <a:xfrm>
            <a:off x="548640" y="339242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Documents that stay frozen</a:t>
            </a:r>
            <a:endParaRPr lang="en-US" sz="1100" dirty="0"/>
          </a:p>
        </p:txBody>
      </p:sp>
      <p:sp>
        <p:nvSpPr>
          <p:cNvPr id="35" name="Text 33"/>
          <p:cNvSpPr txBox="1"/>
          <p:nvPr/>
        </p:nvSpPr>
        <p:spPr>
          <a:xfrm>
            <a:off x="548640" y="3648456"/>
            <a:ext cx="3840480" cy="7772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docs/design/01-requirements.md, 02-hld.md, 03-lld.md and 04-execution-plan.md are cited, not re-derived, once a task pack is in flight; docs/design/decisions.md records every ADR with its consequence.</a:t>
            </a:r>
            <a:endParaRPr lang="en-US" sz="900" dirty="0"/>
          </a:p>
        </p:txBody>
      </p:sp>
      <p:sp>
        <p:nvSpPr>
          <p:cNvPr id="36" name="Shape 34"/>
          <p:cNvSpPr/>
          <p:nvPr/>
        </p:nvSpPr>
        <p:spPr>
          <a:xfrm>
            <a:off x="4663440" y="3337560"/>
            <a:ext cx="4023360" cy="1143000"/>
          </a:xfrm>
          <a:prstGeom prst="roundRect">
            <a:avLst>
              <a:gd name="adj" fmla="val 4800"/>
            </a:avLst>
          </a:prstGeom>
          <a:solidFill>
            <a:srgbClr val="F3F6FA"/>
          </a:solidFill>
          <a:ln w="9525">
            <a:solidFill>
              <a:srgbClr val="C9D3E0"/>
            </a:solidFill>
            <a:prstDash val="solid"/>
          </a:ln>
        </p:spPr>
      </p:sp>
      <p:sp>
        <p:nvSpPr>
          <p:cNvPr id="37" name="Text 35"/>
          <p:cNvSpPr txBox="1"/>
          <p:nvPr/>
        </p:nvSpPr>
        <p:spPr>
          <a:xfrm>
            <a:off x="4754880" y="339242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One command validates everything</a:t>
            </a:r>
            <a:endParaRPr lang="en-US" sz="1100" dirty="0"/>
          </a:p>
        </p:txBody>
      </p:sp>
      <p:sp>
        <p:nvSpPr>
          <p:cNvPr id="38" name="Text 36"/>
          <p:cNvSpPr txBox="1"/>
          <p:nvPr/>
        </p:nvSpPr>
        <p:spPr>
          <a:xfrm>
            <a:off x="4754880" y="3648456"/>
            <a:ext cx="3840480" cy="7772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docs, ruff, pytest, go fmt/test/vet, an MCP CLI smoke, the Next.js build, a workspace check, and an offline eval with drift checks on the results card and the generated contract. CI (.github/workflows/check.yml) runs the same command on ubuntu-latest on every push.</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MEASUREMENT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Quality metrics from the eval harness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19</a:t>
            </a:r>
            <a:endParaRPr lang="en-US" sz="800" dirty="0"/>
          </a:p>
        </p:txBody>
      </p:sp>
      <p:graphicFrame>
        <p:nvGraphicFramePr>
          <p:cNvPr id="5" name="Chart 0" descr=""/>
          <p:cNvGraphicFramePr/>
          <p:nvPr/>
        </p:nvGraphicFramePr>
        <p:xfrm>
          <a:off x="457200" y="1143000"/>
          <a:ext cx="4846320"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394960" y="1143000"/>
          <a:ext cx="3291840" cy="914400"/>
        </p:xfrm>
        <a:graphic>
          <a:graphicData uri="http://schemas.openxmlformats.org/drawingml/2006/table">
            <a:tbl>
              <a:tblPr/>
              <a:tblGrid>
                <a:gridCol w="1417320"/>
                <a:gridCol w="777240"/>
                <a:gridCol w="1097280"/>
              </a:tblGrid>
              <a:tr h="0">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KPI</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Value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Note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Evidence recall@5, ticker given</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94.7%</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no hint: 44.0%, nDCG@10 0.38</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Sentiment fallback commit rate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8.1%</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19/234 FiQA; 89.5% right when it fires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Brief claims grounded</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12 / 12</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5 tickers; 3 say so, not borrowed</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Contract conformance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8 / 8</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vs. the generated JSON Schema</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Fault injections handled honestly</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9 / 9</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warning or clean error only</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Audit completeness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8 / 8</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0 orphaned rows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Latency budget, 8 endpoints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8 / 8 &lt; 2s p95</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5 runs; p95 63-252ms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7" name="Text 3"/>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Every figure is written by `npm run eval` to metrics/headline.json; `npm run check` fails if the README card or the generated contract drifts from it.</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HONESTY</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Quirks and known limitations (stated, not hidden)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20</a:t>
            </a:r>
            <a:endParaRPr lang="en-US" sz="800" dirty="0"/>
          </a:p>
        </p:txBody>
      </p:sp>
      <p:sp>
        <p:nvSpPr>
          <p:cNvPr id="5" name="Shape 3"/>
          <p:cNvSpPr/>
          <p:nvPr/>
        </p:nvSpPr>
        <p:spPr>
          <a:xfrm>
            <a:off x="457200" y="1188720"/>
            <a:ext cx="4069080" cy="749808"/>
          </a:xfrm>
          <a:prstGeom prst="roundRect">
            <a:avLst>
              <a:gd name="adj" fmla="val 7317"/>
            </a:avLst>
          </a:prstGeom>
          <a:solidFill>
            <a:srgbClr val="F3F6FA"/>
          </a:solidFill>
          <a:ln w="9525">
            <a:solidFill>
              <a:srgbClr val="C9D3E0"/>
            </a:solidFill>
            <a:prstDash val="solid"/>
          </a:ln>
        </p:spPr>
      </p:sp>
      <p:sp>
        <p:nvSpPr>
          <p:cNvPr id="6" name="Text 4"/>
          <p:cNvSpPr txBox="1"/>
          <p:nvPr/>
        </p:nvSpPr>
        <p:spPr>
          <a:xfrm>
            <a:off x="548640" y="124358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Evidence coverage is 2 of 5 tickers</a:t>
            </a:r>
            <a:endParaRPr lang="en-US" sz="950" dirty="0"/>
          </a:p>
        </p:txBody>
      </p:sp>
      <p:sp>
        <p:nvSpPr>
          <p:cNvPr id="7" name="Text 5"/>
          <p:cNvSpPr txBox="1"/>
          <p:nvPr/>
        </p:nvSpPr>
        <p:spPr>
          <a:xfrm>
            <a:off x="548640" y="149961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Only MSFT and JPM have filing excerpts in the committed corpus; the other three seeded tickers get an explicit warning, never borrowed evidence.</a:t>
            </a:r>
            <a:endParaRPr lang="en-US" sz="780" dirty="0"/>
          </a:p>
        </p:txBody>
      </p:sp>
      <p:sp>
        <p:nvSpPr>
          <p:cNvPr id="8" name="Shape 6"/>
          <p:cNvSpPr/>
          <p:nvPr/>
        </p:nvSpPr>
        <p:spPr>
          <a:xfrm>
            <a:off x="4663440" y="1188720"/>
            <a:ext cx="4069080" cy="749808"/>
          </a:xfrm>
          <a:prstGeom prst="roundRect">
            <a:avLst>
              <a:gd name="adj" fmla="val 7317"/>
            </a:avLst>
          </a:prstGeom>
          <a:solidFill>
            <a:srgbClr val="F3F6FA"/>
          </a:solidFill>
          <a:ln w="9525">
            <a:solidFill>
              <a:srgbClr val="C9D3E0"/>
            </a:solidFill>
            <a:prstDash val="solid"/>
          </a:ln>
        </p:spPr>
      </p:sp>
      <p:sp>
        <p:nvSpPr>
          <p:cNvPr id="9" name="Text 7"/>
          <p:cNvSpPr txBox="1"/>
          <p:nvPr/>
        </p:nvSpPr>
        <p:spPr>
          <a:xfrm>
            <a:off x="4754880" y="124358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Recall collapses without the ticker hint</a:t>
            </a:r>
            <a:endParaRPr lang="en-US" sz="950" dirty="0"/>
          </a:p>
        </p:txBody>
      </p:sp>
      <p:sp>
        <p:nvSpPr>
          <p:cNvPr id="10" name="Text 8"/>
          <p:cNvSpPr txBox="1"/>
          <p:nvPr/>
        </p:nvSpPr>
        <p:spPr>
          <a:xfrm>
            <a:off x="4754880" y="149961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94.7% recall@5 becomes 44.0% (MRR 0.33, nDCG@10 0.38) without it; the structured hint is doing the heavy lifting, and the card says so.</a:t>
            </a:r>
            <a:endParaRPr lang="en-US" sz="780" dirty="0"/>
          </a:p>
        </p:txBody>
      </p:sp>
      <p:sp>
        <p:nvSpPr>
          <p:cNvPr id="11" name="Shape 9"/>
          <p:cNvSpPr/>
          <p:nvPr/>
        </p:nvSpPr>
        <p:spPr>
          <a:xfrm>
            <a:off x="457200" y="2011680"/>
            <a:ext cx="4069080" cy="749808"/>
          </a:xfrm>
          <a:prstGeom prst="roundRect">
            <a:avLst>
              <a:gd name="adj" fmla="val 7317"/>
            </a:avLst>
          </a:prstGeom>
          <a:solidFill>
            <a:srgbClr val="F3F6FA"/>
          </a:solidFill>
          <a:ln w="9525">
            <a:solidFill>
              <a:srgbClr val="C9D3E0"/>
            </a:solidFill>
            <a:prstDash val="solid"/>
          </a:ln>
        </p:spPr>
      </p:sp>
      <p:sp>
        <p:nvSpPr>
          <p:cNvPr id="12" name="Text 10"/>
          <p:cNvSpPr txBox="1"/>
          <p:nvPr/>
        </p:nvSpPr>
        <p:spPr>
          <a:xfrm>
            <a:off x="548640" y="206654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The sentiment fallback is weak by design</a:t>
            </a:r>
            <a:endParaRPr lang="en-US" sz="950" dirty="0"/>
          </a:p>
        </p:txBody>
      </p:sp>
      <p:sp>
        <p:nvSpPr>
          <p:cNvPr id="13" name="Text 11"/>
          <p:cNvSpPr txBox="1"/>
          <p:nvPr/>
        </p:nvSpPr>
        <p:spPr>
          <a:xfrm>
            <a:off x="548640" y="232257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marketsage-lexicon-v0 commits on 8.1% of FiQA test sentences (19/234); it exists so the demo runs with no download, not as a classifier.</a:t>
            </a:r>
            <a:endParaRPr lang="en-US" sz="780" dirty="0"/>
          </a:p>
        </p:txBody>
      </p:sp>
      <p:sp>
        <p:nvSpPr>
          <p:cNvPr id="14" name="Shape 12"/>
          <p:cNvSpPr/>
          <p:nvPr/>
        </p:nvSpPr>
        <p:spPr>
          <a:xfrm>
            <a:off x="4663440" y="2011680"/>
            <a:ext cx="4069080" cy="749808"/>
          </a:xfrm>
          <a:prstGeom prst="roundRect">
            <a:avLst>
              <a:gd name="adj" fmla="val 7317"/>
            </a:avLst>
          </a:prstGeom>
          <a:solidFill>
            <a:srgbClr val="F3F6FA"/>
          </a:solidFill>
          <a:ln w="9525">
            <a:solidFill>
              <a:srgbClr val="C9D3E0"/>
            </a:solidFill>
            <a:prstDash val="solid"/>
          </a:ln>
        </p:spPr>
      </p:sp>
      <p:sp>
        <p:nvSpPr>
          <p:cNvPr id="15" name="Text 13"/>
          <p:cNvSpPr txBox="1"/>
          <p:nvPr/>
        </p:nvSpPr>
        <p:spPr>
          <a:xfrm>
            <a:off x="4754880" y="206654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FinBERT accuracy is unmeasured here</a:t>
            </a:r>
            <a:endParaRPr lang="en-US" sz="950" dirty="0"/>
          </a:p>
        </p:txBody>
      </p:sp>
      <p:sp>
        <p:nvSpPr>
          <p:cNvPr id="16" name="Text 14"/>
          <p:cNvSpPr txBox="1"/>
          <p:nvPr/>
        </p:nvSpPr>
        <p:spPr>
          <a:xfrm>
            <a:off x="4754880" y="232257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Needs MARKETSAGE_ENABLE_MODEL_DOWNLOADS=true and a model download; the offline harness scores the lexicon fallback only.</a:t>
            </a:r>
            <a:endParaRPr lang="en-US" sz="780" dirty="0"/>
          </a:p>
        </p:txBody>
      </p:sp>
      <p:sp>
        <p:nvSpPr>
          <p:cNvPr id="17" name="Shape 15"/>
          <p:cNvSpPr/>
          <p:nvPr/>
        </p:nvSpPr>
        <p:spPr>
          <a:xfrm>
            <a:off x="457200" y="2834640"/>
            <a:ext cx="4069080" cy="749808"/>
          </a:xfrm>
          <a:prstGeom prst="roundRect">
            <a:avLst>
              <a:gd name="adj" fmla="val 7317"/>
            </a:avLst>
          </a:prstGeom>
          <a:solidFill>
            <a:srgbClr val="F3F6FA"/>
          </a:solidFill>
          <a:ln w="9525">
            <a:solidFill>
              <a:srgbClr val="C9D3E0"/>
            </a:solidFill>
            <a:prstDash val="solid"/>
          </a:ln>
        </p:spPr>
      </p:sp>
      <p:sp>
        <p:nvSpPr>
          <p:cNvPr id="18" name="Text 16"/>
          <p:cNvSpPr txBox="1"/>
          <p:nvPr/>
        </p:nvSpPr>
        <p:spPr>
          <a:xfrm>
            <a:off x="548640" y="288950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Embedding retrieval is not implemented</a:t>
            </a:r>
            <a:endParaRPr lang="en-US" sz="950" dirty="0"/>
          </a:p>
        </p:txBody>
      </p:sp>
      <p:sp>
        <p:nvSpPr>
          <p:cNvPr id="19" name="Text 17"/>
          <p:cNvSpPr txBox="1"/>
          <p:nvPr/>
        </p:nvSpPr>
        <p:spPr>
          <a:xfrm>
            <a:off x="548640" y="314553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The bge-small / MiniLM path is pending; lexical BM25 is the only scorer in the eval today.</a:t>
            </a:r>
            <a:endParaRPr lang="en-US" sz="780" dirty="0"/>
          </a:p>
        </p:txBody>
      </p:sp>
      <p:sp>
        <p:nvSpPr>
          <p:cNvPr id="20" name="Shape 18"/>
          <p:cNvSpPr/>
          <p:nvPr/>
        </p:nvSpPr>
        <p:spPr>
          <a:xfrm>
            <a:off x="4663440" y="2834640"/>
            <a:ext cx="4069080" cy="749808"/>
          </a:xfrm>
          <a:prstGeom prst="roundRect">
            <a:avLst>
              <a:gd name="adj" fmla="val 7317"/>
            </a:avLst>
          </a:prstGeom>
          <a:solidFill>
            <a:srgbClr val="F3F6FA"/>
          </a:solidFill>
          <a:ln w="9525">
            <a:solidFill>
              <a:srgbClr val="C9D3E0"/>
            </a:solidFill>
            <a:prstDash val="solid"/>
          </a:ln>
        </p:spPr>
      </p:sp>
      <p:sp>
        <p:nvSpPr>
          <p:cNvPr id="21" name="Text 19"/>
          <p:cNvSpPr txBox="1"/>
          <p:nvPr/>
        </p:nvSpPr>
        <p:spPr>
          <a:xfrm>
            <a:off x="4754880" y="288950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Live OpenBB data is not scored</a:t>
            </a:r>
            <a:endParaRPr lang="en-US" sz="950" dirty="0"/>
          </a:p>
        </p:txBody>
      </p:sp>
      <p:sp>
        <p:nvSpPr>
          <p:cNvPr id="22" name="Text 20"/>
          <p:cNvSpPr txBox="1"/>
          <p:nvPr/>
        </p:nvSpPr>
        <p:spPr>
          <a:xfrm>
            <a:off x="4754880" y="314553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Seeded prices are illustrative; live mode needs the optional dependency and provider configuration, and is out of the offline gate by design.</a:t>
            </a:r>
            <a:endParaRPr lang="en-US" sz="780" dirty="0"/>
          </a:p>
        </p:txBody>
      </p:sp>
      <p:sp>
        <p:nvSpPr>
          <p:cNvPr id="23" name="Shape 21"/>
          <p:cNvSpPr/>
          <p:nvPr/>
        </p:nvSpPr>
        <p:spPr>
          <a:xfrm>
            <a:off x="457200" y="3657600"/>
            <a:ext cx="4069080" cy="749808"/>
          </a:xfrm>
          <a:prstGeom prst="roundRect">
            <a:avLst>
              <a:gd name="adj" fmla="val 7317"/>
            </a:avLst>
          </a:prstGeom>
          <a:solidFill>
            <a:srgbClr val="F3F6FA"/>
          </a:solidFill>
          <a:ln w="9525">
            <a:solidFill>
              <a:srgbClr val="C9D3E0"/>
            </a:solidFill>
            <a:prstDash val="solid"/>
          </a:ln>
        </p:spPr>
      </p:sp>
      <p:sp>
        <p:nvSpPr>
          <p:cNvPr id="24" name="Text 22"/>
          <p:cNvSpPr txBox="1"/>
          <p:nvPr/>
        </p:nvSpPr>
        <p:spPr>
          <a:xfrm>
            <a:off x="548640" y="371246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`go fmt` flags every Go file on this Windows host</a:t>
            </a:r>
            <a:endParaRPr lang="en-US" sz="950" dirty="0"/>
          </a:p>
        </p:txBody>
      </p:sp>
      <p:sp>
        <p:nvSpPr>
          <p:cNvPr id="25" name="Text 23"/>
          <p:cNvSpPr txBox="1"/>
          <p:nvPr/>
        </p:nvSpPr>
        <p:spPr>
          <a:xfrm>
            <a:off x="548640" y="396849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A CRLF checkout artifact, not a real formatting diff (gofmt -d shows only line-ending changes); CI on ubuntu-latest is green.</a:t>
            </a:r>
            <a:endParaRPr lang="en-US" sz="780" dirty="0"/>
          </a:p>
        </p:txBody>
      </p:sp>
      <p:sp>
        <p:nvSpPr>
          <p:cNvPr id="26" name="Shape 24"/>
          <p:cNvSpPr/>
          <p:nvPr/>
        </p:nvSpPr>
        <p:spPr>
          <a:xfrm>
            <a:off x="4663440" y="3657600"/>
            <a:ext cx="4069080" cy="749808"/>
          </a:xfrm>
          <a:prstGeom prst="roundRect">
            <a:avLst>
              <a:gd name="adj" fmla="val 7317"/>
            </a:avLst>
          </a:prstGeom>
          <a:solidFill>
            <a:srgbClr val="F3F6FA"/>
          </a:solidFill>
          <a:ln w="9525">
            <a:solidFill>
              <a:srgbClr val="C9D3E0"/>
            </a:solidFill>
            <a:prstDash val="solid"/>
          </a:ln>
        </p:spPr>
      </p:sp>
      <p:sp>
        <p:nvSpPr>
          <p:cNvPr id="27" name="Text 25"/>
          <p:cNvSpPr txBox="1"/>
          <p:nvPr/>
        </p:nvSpPr>
        <p:spPr>
          <a:xfrm>
            <a:off x="4754880" y="371246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Bearer auth is a demo control</a:t>
            </a:r>
            <a:endParaRPr lang="en-US" sz="950" dirty="0"/>
          </a:p>
        </p:txBody>
      </p:sp>
      <p:sp>
        <p:nvSpPr>
          <p:cNvPr id="28" name="Text 26"/>
          <p:cNvSpPr txBox="1"/>
          <p:nvPr/>
        </p:nvSpPr>
        <p:spPr>
          <a:xfrm>
            <a:off x="4754880" y="3968496"/>
            <a:ext cx="3886200" cy="384048"/>
          </a:xfrm>
          <a:prstGeom prst="rect">
            <a:avLst/>
          </a:prstGeom>
          <a:noFill/>
          <a:ln/>
        </p:spPr>
        <p:txBody>
          <a:bodyPr wrap="square" lIns="0" tIns="0" rIns="0" bIns="0" rtlCol="0" anchor="t"/>
          <a:lstStyle/>
          <a:p>
            <a:pPr indent="0" marL="0">
              <a:buNone/>
            </a:pPr>
            <a:r>
              <a:rPr lang="en-US" sz="780" dirty="0">
                <a:solidFill>
                  <a:srgbClr val="1B2A41"/>
                </a:solidFill>
                <a:latin typeface="Calibri" pitchFamily="34" charset="0"/>
                <a:ea typeface="Calibri" pitchFamily="34" charset="-122"/>
                <a:cs typeface="Calibri" pitchFamily="34" charset="-120"/>
              </a:rPr>
              <a:t>MARKETSAGE_HTTP_TOKEN is local prototype protection, not production identity, network policy or managed secrets.</a:t>
            </a:r>
            <a:endParaRPr lang="en-US" sz="7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OPERATIONS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Cost, performance and operability</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21</a:t>
            </a:r>
            <a:endParaRPr lang="en-US" sz="800" dirty="0"/>
          </a:p>
        </p:txBody>
      </p:sp>
      <p:sp>
        <p:nvSpPr>
          <p:cNvPr id="5" name="Shape 3"/>
          <p:cNvSpPr/>
          <p:nvPr/>
        </p:nvSpPr>
        <p:spPr>
          <a:xfrm>
            <a:off x="457200" y="1188720"/>
            <a:ext cx="1965960" cy="1234440"/>
          </a:xfrm>
          <a:prstGeom prst="roundRect">
            <a:avLst>
              <a:gd name="adj" fmla="val 4444"/>
            </a:avLst>
          </a:prstGeom>
          <a:solidFill>
            <a:srgbClr val="F3F6FA"/>
          </a:solidFill>
          <a:ln w="9525">
            <a:solidFill>
              <a:srgbClr val="C9D3E0"/>
            </a:solidFill>
            <a:prstDash val="solid"/>
          </a:ln>
        </p:spPr>
      </p:sp>
      <p:sp>
        <p:nvSpPr>
          <p:cNvPr id="6" name="Text 4"/>
          <p:cNvSpPr txBox="1"/>
          <p:nvPr/>
        </p:nvSpPr>
        <p:spPr>
          <a:xfrm>
            <a:off x="566928" y="1234440"/>
            <a:ext cx="1737360" cy="457200"/>
          </a:xfrm>
          <a:prstGeom prst="rect">
            <a:avLst/>
          </a:prstGeom>
          <a:noFill/>
          <a:ln/>
        </p:spPr>
        <p:txBody>
          <a:bodyPr wrap="square" lIns="0" tIns="0" rIns="0" bIns="0" rtlCol="0" anchor="ctr"/>
          <a:lstStyle/>
          <a:p>
            <a:pPr indent="0" marL="0">
              <a:buNone/>
            </a:pPr>
            <a:r>
              <a:rPr lang="en-US" sz="2600" b="1" dirty="0">
                <a:solidFill>
                  <a:srgbClr val="F2B134"/>
                </a:solidFill>
                <a:latin typeface="Cambria" pitchFamily="34" charset="0"/>
                <a:ea typeface="Cambria" pitchFamily="34" charset="-122"/>
                <a:cs typeface="Cambria" pitchFamily="34" charset="-120"/>
              </a:rPr>
              <a:t>0 keys</a:t>
            </a:r>
            <a:endParaRPr lang="en-US" sz="2600" dirty="0"/>
          </a:p>
        </p:txBody>
      </p:sp>
      <p:sp>
        <p:nvSpPr>
          <p:cNvPr id="7" name="Text 5"/>
          <p:cNvSpPr txBox="1"/>
          <p:nvPr/>
        </p:nvSpPr>
        <p:spPr>
          <a:xfrm>
            <a:off x="56692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needed for seeded mode, the demo, or the offline eval harness</a:t>
            </a:r>
            <a:endParaRPr lang="en-US" sz="850" dirty="0"/>
          </a:p>
        </p:txBody>
      </p:sp>
      <p:sp>
        <p:nvSpPr>
          <p:cNvPr id="8" name="Shape 6"/>
          <p:cNvSpPr/>
          <p:nvPr/>
        </p:nvSpPr>
        <p:spPr>
          <a:xfrm>
            <a:off x="2560320" y="1188720"/>
            <a:ext cx="1965960" cy="1234440"/>
          </a:xfrm>
          <a:prstGeom prst="roundRect">
            <a:avLst>
              <a:gd name="adj" fmla="val 4444"/>
            </a:avLst>
          </a:prstGeom>
          <a:solidFill>
            <a:srgbClr val="F3F6FA"/>
          </a:solidFill>
          <a:ln w="9525">
            <a:solidFill>
              <a:srgbClr val="C9D3E0"/>
            </a:solidFill>
            <a:prstDash val="solid"/>
          </a:ln>
        </p:spPr>
      </p:sp>
      <p:sp>
        <p:nvSpPr>
          <p:cNvPr id="9" name="Text 7"/>
          <p:cNvSpPr txBox="1"/>
          <p:nvPr/>
        </p:nvSpPr>
        <p:spPr>
          <a:xfrm>
            <a:off x="2670048" y="1234440"/>
            <a:ext cx="1737360" cy="457200"/>
          </a:xfrm>
          <a:prstGeom prst="rect">
            <a:avLst/>
          </a:prstGeom>
          <a:noFill/>
          <a:ln/>
        </p:spPr>
        <p:txBody>
          <a:bodyPr wrap="square" lIns="0" tIns="0" rIns="0" bIns="0" rtlCol="0" anchor="ctr"/>
          <a:lstStyle/>
          <a:p>
            <a:pPr indent="0" marL="0">
              <a:buNone/>
            </a:pPr>
            <a:r>
              <a:rPr lang="en-US" sz="2600" b="1" dirty="0">
                <a:solidFill>
                  <a:srgbClr val="F2B134"/>
                </a:solidFill>
                <a:latin typeface="Cambria" pitchFamily="34" charset="0"/>
                <a:ea typeface="Cambria" pitchFamily="34" charset="-122"/>
                <a:cs typeface="Cambria" pitchFamily="34" charset="-120"/>
              </a:rPr>
              <a:t>8 / 8</a:t>
            </a:r>
            <a:endParaRPr lang="en-US" sz="2600" dirty="0"/>
          </a:p>
        </p:txBody>
      </p:sp>
      <p:sp>
        <p:nvSpPr>
          <p:cNvPr id="10" name="Text 8"/>
          <p:cNvSpPr txBox="1"/>
          <p:nvPr/>
        </p:nvSpPr>
        <p:spPr>
          <a:xfrm>
            <a:off x="267004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endpoints under the 2s p95 latency budget, in-process over 5 runs</a:t>
            </a:r>
            <a:endParaRPr lang="en-US" sz="850" dirty="0"/>
          </a:p>
        </p:txBody>
      </p:sp>
      <p:sp>
        <p:nvSpPr>
          <p:cNvPr id="11" name="Shape 9"/>
          <p:cNvSpPr/>
          <p:nvPr/>
        </p:nvSpPr>
        <p:spPr>
          <a:xfrm>
            <a:off x="4663440" y="1188720"/>
            <a:ext cx="1965960" cy="1234440"/>
          </a:xfrm>
          <a:prstGeom prst="roundRect">
            <a:avLst>
              <a:gd name="adj" fmla="val 4444"/>
            </a:avLst>
          </a:prstGeom>
          <a:solidFill>
            <a:srgbClr val="F3F6FA"/>
          </a:solidFill>
          <a:ln w="9525">
            <a:solidFill>
              <a:srgbClr val="C9D3E0"/>
            </a:solidFill>
            <a:prstDash val="solid"/>
          </a:ln>
        </p:spPr>
      </p:sp>
      <p:sp>
        <p:nvSpPr>
          <p:cNvPr id="12" name="Text 10"/>
          <p:cNvSpPr txBox="1"/>
          <p:nvPr/>
        </p:nvSpPr>
        <p:spPr>
          <a:xfrm>
            <a:off x="4773168" y="1234440"/>
            <a:ext cx="1737360" cy="457200"/>
          </a:xfrm>
          <a:prstGeom prst="rect">
            <a:avLst/>
          </a:prstGeom>
          <a:noFill/>
          <a:ln/>
        </p:spPr>
        <p:txBody>
          <a:bodyPr wrap="square" lIns="0" tIns="0" rIns="0" bIns="0" rtlCol="0" anchor="ctr"/>
          <a:lstStyle/>
          <a:p>
            <a:pPr indent="0" marL="0">
              <a:buNone/>
            </a:pPr>
            <a:r>
              <a:rPr lang="en-US" sz="2600" b="1" dirty="0">
                <a:solidFill>
                  <a:srgbClr val="F2B134"/>
                </a:solidFill>
                <a:latin typeface="Cambria" pitchFamily="34" charset="0"/>
                <a:ea typeface="Cambria" pitchFamily="34" charset="-122"/>
                <a:cs typeface="Cambria" pitchFamily="34" charset="-120"/>
              </a:rPr>
              <a:t>56</a:t>
            </a:r>
            <a:endParaRPr lang="en-US" sz="2600" dirty="0"/>
          </a:p>
        </p:txBody>
      </p:sp>
      <p:sp>
        <p:nvSpPr>
          <p:cNvPr id="13" name="Text 11"/>
          <p:cNvSpPr txBox="1"/>
          <p:nvPr/>
        </p:nvSpPr>
        <p:spPr>
          <a:xfrm>
            <a:off x="477316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tests passed at ship (45 pytest + 11 Go), plus the eval harness and CI</a:t>
            </a:r>
            <a:endParaRPr lang="en-US" sz="850" dirty="0"/>
          </a:p>
        </p:txBody>
      </p:sp>
      <p:sp>
        <p:nvSpPr>
          <p:cNvPr id="14" name="Shape 12"/>
          <p:cNvSpPr/>
          <p:nvPr/>
        </p:nvSpPr>
        <p:spPr>
          <a:xfrm>
            <a:off x="6766560" y="1188720"/>
            <a:ext cx="1965960" cy="1234440"/>
          </a:xfrm>
          <a:prstGeom prst="roundRect">
            <a:avLst>
              <a:gd name="adj" fmla="val 4444"/>
            </a:avLst>
          </a:prstGeom>
          <a:solidFill>
            <a:srgbClr val="F3F6FA"/>
          </a:solidFill>
          <a:ln w="9525">
            <a:solidFill>
              <a:srgbClr val="C9D3E0"/>
            </a:solidFill>
            <a:prstDash val="solid"/>
          </a:ln>
        </p:spPr>
      </p:sp>
      <p:sp>
        <p:nvSpPr>
          <p:cNvPr id="15" name="Text 13"/>
          <p:cNvSpPr txBox="1"/>
          <p:nvPr/>
        </p:nvSpPr>
        <p:spPr>
          <a:xfrm>
            <a:off x="6876288" y="1234440"/>
            <a:ext cx="1737360" cy="457200"/>
          </a:xfrm>
          <a:prstGeom prst="rect">
            <a:avLst/>
          </a:prstGeom>
          <a:noFill/>
          <a:ln/>
        </p:spPr>
        <p:txBody>
          <a:bodyPr wrap="square" lIns="0" tIns="0" rIns="0" bIns="0" rtlCol="0" anchor="ctr"/>
          <a:lstStyle/>
          <a:p>
            <a:pPr indent="0" marL="0">
              <a:buNone/>
            </a:pPr>
            <a:r>
              <a:rPr lang="en-US" sz="2600" b="1" dirty="0">
                <a:solidFill>
                  <a:srgbClr val="F2B134"/>
                </a:solidFill>
                <a:latin typeface="Cambria" pitchFamily="34" charset="0"/>
                <a:ea typeface="Cambria" pitchFamily="34" charset="-122"/>
                <a:cs typeface="Cambria" pitchFamily="34" charset="-120"/>
              </a:rPr>
              <a:t>0</a:t>
            </a:r>
            <a:endParaRPr lang="en-US" sz="2600" dirty="0"/>
          </a:p>
        </p:txBody>
      </p:sp>
      <p:sp>
        <p:nvSpPr>
          <p:cNvPr id="16" name="Text 14"/>
          <p:cNvSpPr txBox="1"/>
          <p:nvPr/>
        </p:nvSpPr>
        <p:spPr>
          <a:xfrm>
            <a:off x="687628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high-severity findings: npm audit, uv pip check, govulncheck all clean</a:t>
            </a:r>
            <a:endParaRPr lang="en-US" sz="850" dirty="0"/>
          </a:p>
        </p:txBody>
      </p:sp>
      <p:sp>
        <p:nvSpPr>
          <p:cNvPr id="17" name="Shape 15"/>
          <p:cNvSpPr/>
          <p:nvPr/>
        </p:nvSpPr>
        <p:spPr>
          <a:xfrm>
            <a:off x="457200" y="2606040"/>
            <a:ext cx="4023360" cy="1828800"/>
          </a:xfrm>
          <a:prstGeom prst="roundRect">
            <a:avLst>
              <a:gd name="adj" fmla="val 3000"/>
            </a:avLst>
          </a:prstGeom>
          <a:solidFill>
            <a:srgbClr val="F3F6FA"/>
          </a:solidFill>
          <a:ln w="9525">
            <a:solidFill>
              <a:srgbClr val="C9D3E0"/>
            </a:solidFill>
            <a:prstDash val="solid"/>
          </a:ln>
        </p:spPr>
      </p:sp>
      <p:sp>
        <p:nvSpPr>
          <p:cNvPr id="18" name="Text 16"/>
          <p:cNvSpPr txBox="1"/>
          <p:nvPr/>
        </p:nvSpPr>
        <p:spPr>
          <a:xfrm>
            <a:off x="548640" y="266090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Operability</a:t>
            </a:r>
            <a:endParaRPr lang="en-US" sz="1100" dirty="0"/>
          </a:p>
        </p:txBody>
      </p:sp>
      <p:sp>
        <p:nvSpPr>
          <p:cNvPr id="19" name="Text 17"/>
          <p:cNvSpPr txBox="1"/>
          <p:nvPr/>
        </p:nvSpPr>
        <p:spPr>
          <a:xfrm>
            <a:off x="548640" y="2916936"/>
            <a:ext cx="3840480" cy="14630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 demo-script.md: a five-minute walkthrough, check → demo:mcp → workbench → protected mode → eval → audit query</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SHOWCASE.md: a ten- and twenty-minute tour with commands and files</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Health endpoint reports duckdb/openbb/huggingface dependency status independently</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Protected mode is one environment variable away (MARKETSAGE_HTTP_TOKEN)</a:t>
            </a:r>
            <a:endParaRPr lang="en-US" sz="900" dirty="0"/>
          </a:p>
        </p:txBody>
      </p:sp>
      <p:sp>
        <p:nvSpPr>
          <p:cNvPr id="20" name="Shape 18"/>
          <p:cNvSpPr/>
          <p:nvPr/>
        </p:nvSpPr>
        <p:spPr>
          <a:xfrm>
            <a:off x="4663440" y="2606040"/>
            <a:ext cx="4023360" cy="1828800"/>
          </a:xfrm>
          <a:prstGeom prst="roundRect">
            <a:avLst>
              <a:gd name="adj" fmla="val 3000"/>
            </a:avLst>
          </a:prstGeom>
          <a:solidFill>
            <a:srgbClr val="F3F6FA"/>
          </a:solidFill>
          <a:ln w="9525">
            <a:solidFill>
              <a:srgbClr val="C9D3E0"/>
            </a:solidFill>
            <a:prstDash val="solid"/>
          </a:ln>
        </p:spPr>
      </p:sp>
      <p:sp>
        <p:nvSpPr>
          <p:cNvPr id="21" name="Text 19"/>
          <p:cNvSpPr txBox="1"/>
          <p:nvPr/>
        </p:nvSpPr>
        <p:spPr>
          <a:xfrm>
            <a:off x="4754880" y="266090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Observability and audit</a:t>
            </a:r>
            <a:endParaRPr lang="en-US" sz="1100" dirty="0"/>
          </a:p>
        </p:txBody>
      </p:sp>
      <p:sp>
        <p:nvSpPr>
          <p:cNvPr id="22" name="Text 20"/>
          <p:cNvSpPr txBox="1"/>
          <p:nvPr/>
        </p:nvSpPr>
        <p:spPr>
          <a:xfrm>
            <a:off x="4754880" y="2916936"/>
            <a:ext cx="3840480" cy="14630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 DuckDB audit_event: request id, tool, status, duration, mode, warning count, per call</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Best-effort audit writes so a local DB issue never masks API behaviour</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Every payload carries its own warnings array; nothing is silently substituted</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The saved-run resource makes every brief reproducible after the fact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Roadmap to a pilot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22</a:t>
            </a:r>
            <a:endParaRPr lang="en-US" sz="800" dirty="0"/>
          </a:p>
        </p:txBody>
      </p:sp>
      <p:sp>
        <p:nvSpPr>
          <p:cNvPr id="5" name="Shape 3"/>
          <p:cNvSpPr/>
          <p:nvPr/>
        </p:nvSpPr>
        <p:spPr>
          <a:xfrm>
            <a:off x="457200" y="1188720"/>
            <a:ext cx="1965960" cy="3200400"/>
          </a:xfrm>
          <a:prstGeom prst="roundRect">
            <a:avLst>
              <a:gd name="adj" fmla="val 2791"/>
            </a:avLst>
          </a:prstGeom>
          <a:solidFill>
            <a:srgbClr val="EEF6F4"/>
          </a:solidFill>
          <a:ln w="9525">
            <a:solidFill>
              <a:srgbClr val="2EC4B6"/>
            </a:solidFill>
            <a:prstDash val="solid"/>
          </a:ln>
        </p:spPr>
      </p:sp>
      <p:sp>
        <p:nvSpPr>
          <p:cNvPr id="6" name="Text 4"/>
          <p:cNvSpPr txBox="1"/>
          <p:nvPr/>
        </p:nvSpPr>
        <p:spPr>
          <a:xfrm>
            <a:off x="56692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Now</a:t>
            </a:r>
            <a:endParaRPr lang="en-US" sz="900" dirty="0"/>
          </a:p>
        </p:txBody>
      </p:sp>
      <p:sp>
        <p:nvSpPr>
          <p:cNvPr id="7" name="Text 5"/>
          <p:cNvSpPr txBox="1"/>
          <p:nvPr/>
        </p:nvSpPr>
        <p:spPr>
          <a:xfrm>
            <a:off x="566928" y="1481328"/>
            <a:ext cx="1737360" cy="3200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Close the accuracy gap</a:t>
            </a:r>
            <a:endParaRPr lang="en-US" sz="1400" dirty="0"/>
          </a:p>
        </p:txBody>
      </p:sp>
      <p:sp>
        <p:nvSpPr>
          <p:cNvPr id="8" name="Text 6"/>
          <p:cNvSpPr txBox="1"/>
          <p:nvPr/>
        </p:nvSpPr>
        <p:spPr>
          <a:xfrm>
            <a:off x="56692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1B2A41"/>
                </a:solidFill>
                <a:latin typeface="Calibri" pitchFamily="34" charset="0"/>
                <a:ea typeface="Calibri" pitchFamily="34" charset="-122"/>
                <a:cs typeface="Calibri" pitchFamily="34" charset="-120"/>
              </a:rPr>
              <a:t>Record a FinBERT run with model downloads enabled; publish it as a recorded, not re-observed, figure</a:t>
            </a:r>
            <a:endParaRPr lang="en-US" sz="900" dirty="0"/>
          </a:p>
          <a:p>
            <a:pPr marL="342900" indent="-342900">
              <a:spcAft>
                <a:spcPts val="400"/>
              </a:spcAft>
              <a:buSzPct val="100000"/>
              <a:buChar char="•"/>
            </a:pPr>
            <a:r>
              <a:rPr lang="en-US" sz="900" dirty="0">
                <a:solidFill>
                  <a:srgbClr val="1B2A41"/>
                </a:solidFill>
                <a:latin typeface="Calibri" pitchFamily="34" charset="0"/>
                <a:ea typeface="Calibri" pitchFamily="34" charset="-122"/>
                <a:cs typeface="Calibri" pitchFamily="34" charset="-120"/>
              </a:rPr>
              <a:t>Add embedding retrieval behind the same scorer switch, scored on the same fixture</a:t>
            </a:r>
            <a:endParaRPr lang="en-US" sz="900" dirty="0"/>
          </a:p>
        </p:txBody>
      </p:sp>
      <p:sp>
        <p:nvSpPr>
          <p:cNvPr id="9" name="Shape 7"/>
          <p:cNvSpPr/>
          <p:nvPr/>
        </p:nvSpPr>
        <p:spPr>
          <a:xfrm>
            <a:off x="2560320" y="1188720"/>
            <a:ext cx="1965960" cy="3200400"/>
          </a:xfrm>
          <a:prstGeom prst="roundRect">
            <a:avLst>
              <a:gd name="adj" fmla="val 2791"/>
            </a:avLst>
          </a:prstGeom>
          <a:solidFill>
            <a:srgbClr val="F3F6FA"/>
          </a:solidFill>
          <a:ln w="9525">
            <a:solidFill>
              <a:srgbClr val="C9D3E0"/>
            </a:solidFill>
            <a:prstDash val="solid"/>
          </a:ln>
        </p:spPr>
      </p:sp>
      <p:sp>
        <p:nvSpPr>
          <p:cNvPr id="10" name="Text 8"/>
          <p:cNvSpPr txBox="1"/>
          <p:nvPr/>
        </p:nvSpPr>
        <p:spPr>
          <a:xfrm>
            <a:off x="267004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Next</a:t>
            </a:r>
            <a:endParaRPr lang="en-US" sz="900" dirty="0"/>
          </a:p>
        </p:txBody>
      </p:sp>
      <p:sp>
        <p:nvSpPr>
          <p:cNvPr id="11" name="Text 9"/>
          <p:cNvSpPr txBox="1"/>
          <p:nvPr/>
        </p:nvSpPr>
        <p:spPr>
          <a:xfrm>
            <a:off x="2670048" y="1481328"/>
            <a:ext cx="1737360" cy="3200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Widen evidence coverage</a:t>
            </a:r>
            <a:endParaRPr lang="en-US" sz="1400" dirty="0"/>
          </a:p>
        </p:txBody>
      </p:sp>
      <p:sp>
        <p:nvSpPr>
          <p:cNvPr id="12" name="Text 10"/>
          <p:cNvSpPr txBox="1"/>
          <p:nvPr/>
        </p:nvSpPr>
        <p:spPr>
          <a:xfrm>
            <a:off x="267004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1B2A41"/>
                </a:solidFill>
                <a:latin typeface="Calibri" pitchFamily="34" charset="0"/>
                <a:ea typeface="Calibri" pitchFamily="34" charset="-122"/>
                <a:cs typeface="Calibri" pitchFamily="34" charset="-120"/>
              </a:rPr>
              <a:t>Filing excerpts for the three seeded tickers that currently get a coverage warning</a:t>
            </a:r>
            <a:endParaRPr lang="en-US" sz="900" dirty="0"/>
          </a:p>
          <a:p>
            <a:pPr marL="342900" indent="-342900">
              <a:spcAft>
                <a:spcPts val="400"/>
              </a:spcAft>
              <a:buSzPct val="100000"/>
              <a:buChar char="•"/>
            </a:pPr>
            <a:r>
              <a:rPr lang="en-US" sz="900" dirty="0">
                <a:solidFill>
                  <a:srgbClr val="1B2A41"/>
                </a:solidFill>
                <a:latin typeface="Calibri" pitchFamily="34" charset="0"/>
                <a:ea typeface="Calibri" pitchFamily="34" charset="-122"/>
                <a:cs typeface="Calibri" pitchFamily="34" charset="-120"/>
              </a:rPr>
              <a:t>Live OpenBB provider configuration and credentials for a real pilot ticker set</a:t>
            </a:r>
            <a:endParaRPr lang="en-US" sz="900" dirty="0"/>
          </a:p>
        </p:txBody>
      </p:sp>
      <p:sp>
        <p:nvSpPr>
          <p:cNvPr id="13" name="Shape 11"/>
          <p:cNvSpPr/>
          <p:nvPr/>
        </p:nvSpPr>
        <p:spPr>
          <a:xfrm>
            <a:off x="4663440" y="1188720"/>
            <a:ext cx="1965960" cy="3200400"/>
          </a:xfrm>
          <a:prstGeom prst="roundRect">
            <a:avLst>
              <a:gd name="adj" fmla="val 2791"/>
            </a:avLst>
          </a:prstGeom>
          <a:solidFill>
            <a:srgbClr val="F3F6FA"/>
          </a:solidFill>
          <a:ln w="9525">
            <a:solidFill>
              <a:srgbClr val="C9D3E0"/>
            </a:solidFill>
            <a:prstDash val="solid"/>
          </a:ln>
        </p:spPr>
      </p:sp>
      <p:sp>
        <p:nvSpPr>
          <p:cNvPr id="14" name="Text 12"/>
          <p:cNvSpPr txBox="1"/>
          <p:nvPr/>
        </p:nvSpPr>
        <p:spPr>
          <a:xfrm>
            <a:off x="477316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Then</a:t>
            </a:r>
            <a:endParaRPr lang="en-US" sz="900" dirty="0"/>
          </a:p>
        </p:txBody>
      </p:sp>
      <p:sp>
        <p:nvSpPr>
          <p:cNvPr id="15" name="Text 13"/>
          <p:cNvSpPr txBox="1"/>
          <p:nvPr/>
        </p:nvSpPr>
        <p:spPr>
          <a:xfrm>
            <a:off x="4773168" y="1481328"/>
            <a:ext cx="1737360" cy="3200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Harden for a pilot</a:t>
            </a:r>
            <a:endParaRPr lang="en-US" sz="1400" dirty="0"/>
          </a:p>
        </p:txBody>
      </p:sp>
      <p:sp>
        <p:nvSpPr>
          <p:cNvPr id="16" name="Text 14"/>
          <p:cNvSpPr txBox="1"/>
          <p:nvPr/>
        </p:nvSpPr>
        <p:spPr>
          <a:xfrm>
            <a:off x="477316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1B2A41"/>
                </a:solidFill>
                <a:latin typeface="Calibri" pitchFamily="34" charset="0"/>
                <a:ea typeface="Calibri" pitchFamily="34" charset="-122"/>
                <a:cs typeface="Calibri" pitchFamily="34" charset="-120"/>
              </a:rPr>
              <a:t>An identity layer in front of MARKETSAGE_HTTP_TOKEN</a:t>
            </a:r>
            <a:endParaRPr lang="en-US" sz="900" dirty="0"/>
          </a:p>
          <a:p>
            <a:pPr marL="342900" indent="-342900">
              <a:spcAft>
                <a:spcPts val="400"/>
              </a:spcAft>
              <a:buSzPct val="100000"/>
              <a:buChar char="•"/>
            </a:pPr>
            <a:r>
              <a:rPr lang="en-US" sz="900" dirty="0">
                <a:solidFill>
                  <a:srgbClr val="1B2A41"/>
                </a:solidFill>
                <a:latin typeface="Calibri" pitchFamily="34" charset="0"/>
                <a:ea typeface="Calibri" pitchFamily="34" charset="-122"/>
                <a:cs typeface="Calibri" pitchFamily="34" charset="-120"/>
              </a:rPr>
              <a:t>A tamper-evident audit sink, and a runbook for the on-call path</a:t>
            </a:r>
            <a:endParaRPr lang="en-US" sz="900" dirty="0"/>
          </a:p>
        </p:txBody>
      </p:sp>
      <p:sp>
        <p:nvSpPr>
          <p:cNvPr id="17" name="Shape 15"/>
          <p:cNvSpPr/>
          <p:nvPr/>
        </p:nvSpPr>
        <p:spPr>
          <a:xfrm>
            <a:off x="6766560" y="1188720"/>
            <a:ext cx="1965960" cy="3200400"/>
          </a:xfrm>
          <a:prstGeom prst="roundRect">
            <a:avLst>
              <a:gd name="adj" fmla="val 2791"/>
            </a:avLst>
          </a:prstGeom>
          <a:solidFill>
            <a:srgbClr val="F3F6FA"/>
          </a:solidFill>
          <a:ln w="9525">
            <a:solidFill>
              <a:srgbClr val="C9D3E0"/>
            </a:solidFill>
            <a:prstDash val="solid"/>
          </a:ln>
        </p:spPr>
      </p:sp>
      <p:sp>
        <p:nvSpPr>
          <p:cNvPr id="18" name="Text 16"/>
          <p:cNvSpPr txBox="1"/>
          <p:nvPr/>
        </p:nvSpPr>
        <p:spPr>
          <a:xfrm>
            <a:off x="687628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Later</a:t>
            </a:r>
            <a:endParaRPr lang="en-US" sz="900" dirty="0"/>
          </a:p>
        </p:txBody>
      </p:sp>
      <p:sp>
        <p:nvSpPr>
          <p:cNvPr id="19" name="Text 17"/>
          <p:cNvSpPr txBox="1"/>
          <p:nvPr/>
        </p:nvSpPr>
        <p:spPr>
          <a:xfrm>
            <a:off x="6876288" y="1481328"/>
            <a:ext cx="1737360" cy="3200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Scale</a:t>
            </a:r>
            <a:endParaRPr lang="en-US" sz="1400" dirty="0"/>
          </a:p>
        </p:txBody>
      </p:sp>
      <p:sp>
        <p:nvSpPr>
          <p:cNvPr id="20" name="Text 18"/>
          <p:cNvSpPr txBox="1"/>
          <p:nvPr/>
        </p:nvSpPr>
        <p:spPr>
          <a:xfrm>
            <a:off x="687628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1B2A41"/>
                </a:solidFill>
                <a:latin typeface="Calibri" pitchFamily="34" charset="0"/>
                <a:ea typeface="Calibri" pitchFamily="34" charset="-122"/>
                <a:cs typeface="Calibri" pitchFamily="34" charset="-120"/>
              </a:rPr>
              <a:t>Full ticker universe instead of five seeded illustrative names</a:t>
            </a:r>
            <a:endParaRPr lang="en-US" sz="900" dirty="0"/>
          </a:p>
          <a:p>
            <a:pPr marL="342900" indent="-342900">
              <a:spcAft>
                <a:spcPts val="400"/>
              </a:spcAft>
              <a:buSzPct val="100000"/>
              <a:buChar char="•"/>
            </a:pPr>
            <a:r>
              <a:rPr lang="en-US" sz="900" dirty="0">
                <a:solidFill>
                  <a:srgbClr val="1B2A41"/>
                </a:solidFill>
                <a:latin typeface="Calibri" pitchFamily="34" charset="0"/>
                <a:ea typeface="Calibri" pitchFamily="34" charset="-122"/>
                <a:cs typeface="Calibri" pitchFamily="34" charset="-120"/>
              </a:rPr>
              <a:t>Batch briefs and a dashboard over audit and warning rates</a:t>
            </a:r>
            <a:endParaRPr lang="en-US" sz="900" dirty="0"/>
          </a:p>
        </p:txBody>
      </p:sp>
      <p:sp>
        <p:nvSpPr>
          <p:cNvPr id="21" name="Text 19"/>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The first two items are the project's own stated next steps (STATE.md); nothing below changes the contracts, the audit row, or the grounding check.</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 A — Decision log</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23</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05840"/>
                <a:gridCol w="3291840"/>
                <a:gridCol w="393192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Decision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Consequence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ADR-001</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Use the full enterprise-dev-lifecycle track</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Requirements, HLD, LLD, execution plan, task packs and a ship report before code merges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ADR-002</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Go MCP gateway, Python analytics core, TypeScript clients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Transport discipline in Go, OpenBB/HF fit in Python; a Go spike in M0 validated the boundary first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ADR-003</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DuckDB for local analytics and cache state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No database server for a reviewer; schemas kept portable enough for Postgres later</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ADR-004</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Default to OpenBB-compatible (AGPL-3.0-only) licensing</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Avoids muddled licensing for a public repository while OpenBB is a direct dependency</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ADR-005</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Seeded data first, live data second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The full MCP/client workflow proven early; live OpenBB integration layered on without blocking the demo</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 B — Task packs and lessons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24</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754880"/>
                <a:gridCol w="1554480"/>
                <a:gridCol w="192024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Task</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Milestone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Status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T-001 Repository guardrails and validation skeleton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M0</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T-002 … T-004  Python core, Go gateway, TS client skeletons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M0-M1</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T-005 … T-009  OpenBB adapter, HF manifest, sentiment, evidence, briefs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M1-M2</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T-010 Next.js analyst workbench</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M3</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T-011 Hardening, observability and security</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M4</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T-012 Portfolio docs and public license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M5</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T-013 Offline evaluation harness, real evidence corpus, contracts, MCP prompts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M5</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6" name="Shape 3"/>
          <p:cNvSpPr/>
          <p:nvPr/>
        </p:nvSpPr>
        <p:spPr>
          <a:xfrm>
            <a:off x="457200" y="3520440"/>
            <a:ext cx="8229600" cy="1051560"/>
          </a:xfrm>
          <a:prstGeom prst="roundRect">
            <a:avLst>
              <a:gd name="adj" fmla="val 5217"/>
            </a:avLst>
          </a:prstGeom>
          <a:solidFill>
            <a:srgbClr val="F3F6FA"/>
          </a:solidFill>
          <a:ln w="9525">
            <a:solidFill>
              <a:srgbClr val="C9D3E0"/>
            </a:solidFill>
            <a:prstDash val="solid"/>
          </a:ln>
        </p:spPr>
      </p:sp>
      <p:sp>
        <p:nvSpPr>
          <p:cNvPr id="7" name="Text 4"/>
          <p:cNvSpPr txBox="1"/>
          <p:nvPr/>
        </p:nvSpPr>
        <p:spPr>
          <a:xfrm>
            <a:off x="548640" y="3575304"/>
            <a:ext cx="804672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Lessons recorded in STATE.md and the T-013 task pack</a:t>
            </a:r>
            <a:endParaRPr lang="en-US" sz="1100" dirty="0"/>
          </a:p>
        </p:txBody>
      </p:sp>
      <p:sp>
        <p:nvSpPr>
          <p:cNvPr id="8" name="Text 5"/>
          <p:cNvSpPr txBox="1"/>
          <p:nvPr/>
        </p:nvSpPr>
        <p:spPr>
          <a:xfrm>
            <a:off x="548640" y="3831336"/>
            <a:ext cx="804672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 Phases 0-3 planning artifacts were drafted in one pass at the user's request; the hard gate before application code stayed in force regardless.</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 "Not done, on purpose": FinBERT and embedding numbers need downloads the offline gate forbids; they belong in a recorded run under a bench/ path, not asserted here.</a:t>
            </a:r>
            <a:endParaRPr lang="en-US" sz="850" dirty="0"/>
          </a:p>
          <a:p>
            <a:pPr indent="0" marL="0">
              <a:buNone/>
            </a:pPr>
            <a:r>
              <a:rPr lang="en-US" sz="850" dirty="0">
                <a:solidFill>
                  <a:srgbClr val="1B2A41"/>
                </a:solidFill>
                <a:latin typeface="Calibri" pitchFamily="34" charset="0"/>
                <a:ea typeface="Calibri" pitchFamily="34" charset="-122"/>
                <a:cs typeface="Calibri" pitchFamily="34" charset="-120"/>
              </a:rPr>
              <a:t>• Six hand-written evidence rows that carried a FinanceBench label without coming from it were removed once the real corpus was committed.</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 C — Repository map and how to run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MarketSage · AI Systems Architecture Review · 25</a:t>
            </a:r>
            <a:endParaRPr lang="en-US" sz="800" dirty="0"/>
          </a:p>
        </p:txBody>
      </p:sp>
      <p:sp>
        <p:nvSpPr>
          <p:cNvPr id="5" name="Text 3"/>
          <p:cNvSpPr txBox="1"/>
          <p:nvPr/>
        </p:nvSpPr>
        <p:spPr>
          <a:xfrm>
            <a:off x="457200" y="1188720"/>
            <a:ext cx="5120640" cy="3017520"/>
          </a:xfrm>
          <a:prstGeom prst="rect">
            <a:avLst/>
          </a:prstGeom>
          <a:noFill/>
          <a:ln/>
        </p:spPr>
        <p:txBody>
          <a:bodyPr wrap="square" lIns="0" tIns="0" rIns="0" bIns="0" rtlCol="0" anchor="t"/>
          <a:lstStyle/>
          <a:p>
            <a:pPr indent="0" marL="0">
              <a:buNone/>
            </a:pPr>
            <a:r>
              <a:rPr lang="en-US" sz="780" dirty="0">
                <a:solidFill>
                  <a:srgbClr val="1B2A41"/>
                </a:solidFill>
                <a:latin typeface="Courier New" pitchFamily="34" charset="0"/>
                <a:ea typeface="Courier New" pitchFamily="34" charset="-122"/>
                <a:cs typeface="Courier New" pitchFamily="34" charset="-120"/>
              </a:rPr>
              <a:t>apps/web/            Next.js workbench + server-side API proxy</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clients/mcp-cli/     TypeScript MCP client (`npm run demo:mcp`)</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services/</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  mcp-gateway-go/    Go stdio MCP server: 7 tools, 4 prompts, 1 resource</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  analytics-python/  FastAPI core: market, sentiment, evidence, briefs,</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                     OpenBB adapter, HF datasets, DuckDB storage, eval</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packages/contracts/  marketsage.schema.json, generated from Pydantic</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data/fixtures/       FinanceBench + FiQA, MIT, sha256-pinned manifest</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metrics/             headline.json, eval-latest.json, render.py</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docs/design/         requirements, HLD, LLD, execution plan, decisions</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docs/tasks/          13 task packs, T-001 … T-013</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docs/graph/          codebase knowledge graph (graphify): 1199 nodes,</a:t>
            </a:r>
            <a:endParaRPr lang="en-US" sz="780" dirty="0"/>
          </a:p>
          <a:p>
            <a:pPr indent="0" marL="0">
              <a:buNone/>
            </a:pPr>
            <a:r>
              <a:rPr lang="en-US" sz="780" dirty="0">
                <a:solidFill>
                  <a:srgbClr val="1B2A41"/>
                </a:solidFill>
                <a:latin typeface="Courier New" pitchFamily="34" charset="0"/>
                <a:ea typeface="Courier New" pitchFamily="34" charset="-122"/>
                <a:cs typeface="Courier New" pitchFamily="34" charset="-120"/>
              </a:rPr>
              <a:t>                     2180 edges, 90 communities</a:t>
            </a:r>
            <a:endParaRPr lang="en-US" sz="780" dirty="0"/>
          </a:p>
        </p:txBody>
      </p:sp>
      <p:sp>
        <p:nvSpPr>
          <p:cNvPr id="6" name="Shape 4"/>
          <p:cNvSpPr/>
          <p:nvPr/>
        </p:nvSpPr>
        <p:spPr>
          <a:xfrm>
            <a:off x="5760720" y="1188720"/>
            <a:ext cx="2926080" cy="3246120"/>
          </a:xfrm>
          <a:prstGeom prst="roundRect">
            <a:avLst>
              <a:gd name="adj" fmla="val 1875"/>
            </a:avLst>
          </a:prstGeom>
          <a:solidFill>
            <a:srgbClr val="1C2B4F"/>
          </a:solidFill>
          <a:ln w="9525">
            <a:solidFill>
              <a:srgbClr val="1C2B4F"/>
            </a:solidFill>
            <a:prstDash val="solid"/>
          </a:ln>
        </p:spPr>
      </p:sp>
      <p:sp>
        <p:nvSpPr>
          <p:cNvPr id="7" name="Text 5"/>
          <p:cNvSpPr txBox="1"/>
          <p:nvPr/>
        </p:nvSpPr>
        <p:spPr>
          <a:xfrm>
            <a:off x="5897880" y="1261872"/>
            <a:ext cx="2743200" cy="274320"/>
          </a:xfrm>
          <a:prstGeom prst="rect">
            <a:avLst/>
          </a:prstGeom>
          <a:noFill/>
          <a:ln/>
        </p:spPr>
        <p:txBody>
          <a:bodyPr wrap="square" lIns="0" tIns="0" rIns="0" bIns="0" rtlCol="0" anchor="ctr"/>
          <a:lstStyle/>
          <a:p>
            <a:pPr indent="0" marL="0">
              <a:buNone/>
            </a:pPr>
            <a:r>
              <a:rPr lang="en-US" sz="1100" b="1" dirty="0">
                <a:solidFill>
                  <a:srgbClr val="2EC4B6"/>
                </a:solidFill>
                <a:latin typeface="Calibri" pitchFamily="34" charset="0"/>
                <a:ea typeface="Calibri" pitchFamily="34" charset="-122"/>
                <a:cs typeface="Calibri" pitchFamily="34" charset="-120"/>
              </a:rPr>
              <a:t>Run it</a:t>
            </a:r>
            <a:endParaRPr lang="en-US" sz="1100" dirty="0"/>
          </a:p>
        </p:txBody>
      </p:sp>
      <p:sp>
        <p:nvSpPr>
          <p:cNvPr id="8" name="Text 6"/>
          <p:cNvSpPr txBox="1"/>
          <p:nvPr/>
        </p:nvSpPr>
        <p:spPr>
          <a:xfrm>
            <a:off x="5897880" y="1572768"/>
            <a:ext cx="2743200" cy="2788920"/>
          </a:xfrm>
          <a:prstGeom prst="rect">
            <a:avLst/>
          </a:prstGeom>
          <a:noFill/>
          <a:ln/>
        </p:spPr>
        <p:txBody>
          <a:bodyPr wrap="square" lIns="0" tIns="0" rIns="0" bIns="0" rtlCol="0" anchor="t"/>
          <a:lstStyle/>
          <a:p>
            <a:pPr indent="0" marL="0">
              <a:buNone/>
            </a:pPr>
            <a:r>
              <a:rPr lang="en-US" sz="850" dirty="0">
                <a:solidFill>
                  <a:srgbClr val="FFFFFF"/>
                </a:solidFill>
                <a:latin typeface="Courier New" pitchFamily="34" charset="0"/>
                <a:ea typeface="Courier New" pitchFamily="34" charset="-122"/>
                <a:cs typeface="Courier New" pitchFamily="34" charset="-120"/>
              </a:rPr>
              <a:t>npm install</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npm run check        # the gate</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npm run demo:mcp     # MCP client, all 7 tools</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npm run eval         # the results-card harness</a:t>
            </a:r>
            <a:endParaRPr lang="en-US" sz="850" dirty="0"/>
          </a:p>
          <a:p>
            <a:pPr indent="0" marL="0">
              <a:buNone/>
            </a:pP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the workbench, two terminals</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npm run dev:analytics</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npm run dev --workspace apps/web</a:t>
            </a:r>
            <a:endParaRPr lang="en-US" sz="850" dirty="0"/>
          </a:p>
          <a:p>
            <a:pPr indent="0" marL="0">
              <a:buNone/>
            </a:pP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 protected mode</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$env:MARKETSAGE_HTTP_TOKEN="&lt;key&gt;"</a:t>
            </a:r>
            <a:endParaRPr lang="en-US" sz="850" dirty="0"/>
          </a:p>
          <a:p>
            <a:pPr indent="0" marL="0">
              <a:buNone/>
            </a:pPr>
            <a:r>
              <a:rPr lang="en-US" sz="850" dirty="0">
                <a:solidFill>
                  <a:srgbClr val="FFFFFF"/>
                </a:solidFill>
                <a:latin typeface="Courier New" pitchFamily="34" charset="0"/>
                <a:ea typeface="Courier New" pitchFamily="34" charset="-122"/>
                <a:cs typeface="Courier New" pitchFamily="34" charset="-120"/>
              </a:rPr>
              <a:t>npm run dev:analytics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73736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Questions</a:t>
            </a:r>
            <a:endParaRPr lang="en-US" sz="3400" dirty="0"/>
          </a:p>
        </p:txBody>
      </p:sp>
      <p:sp>
        <p:nvSpPr>
          <p:cNvPr id="3" name="Text 1"/>
          <p:cNvSpPr txBox="1"/>
          <p:nvPr/>
        </p:nvSpPr>
        <p:spPr>
          <a:xfrm>
            <a:off x="548640" y="2606040"/>
            <a:ext cx="8046720" cy="548640"/>
          </a:xfrm>
          <a:prstGeom prst="rect">
            <a:avLst/>
          </a:prstGeom>
          <a:noFill/>
          <a:ln/>
        </p:spPr>
        <p:txBody>
          <a:bodyPr wrap="square" lIns="0" tIns="0" rIns="0" bIns="0" rtlCol="0" anchor="ctr"/>
          <a:lstStyle/>
          <a:p>
            <a:pPr indent="0" marL="0">
              <a:buNone/>
            </a:pPr>
            <a:r>
              <a:rPr lang="en-US" sz="1500" i="1" dirty="0">
                <a:solidFill>
                  <a:srgbClr val="DCE7F5"/>
                </a:solidFill>
                <a:latin typeface="Calibri" pitchFamily="34" charset="0"/>
                <a:ea typeface="Calibri" pitchFamily="34" charset="-122"/>
                <a:cs typeface="Calibri" pitchFamily="34" charset="-120"/>
              </a:rPr>
              <a:t>MarketSage · roshanrana/MarketSage · AGPL-3.0-only · design docs, ship report and demo script in the repository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MarketSage — AI Systems Architecture Review</dc:title>
  <dc:subject>PptxGenJS Presentation</dc:subject>
  <dc:creator>Roshan Rana</dc:creator>
  <cp:lastModifiedBy>Roshan Rana</cp:lastModifiedBy>
  <cp:revision>1</cp:revision>
  <dcterms:created xsi:type="dcterms:W3CDTF">2026-09-12T23:56:58Z</dcterms:created>
  <dcterms:modified xsi:type="dcterms:W3CDTF">2026-09-12T23:56:58Z</dcterms:modified>
</cp:coreProperties>
</file>